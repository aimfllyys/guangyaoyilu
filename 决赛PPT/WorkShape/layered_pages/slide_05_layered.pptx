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base-image2-muted" descr="slide_05_background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itle-backplate"/>
          <p:cNvSpPr/>
          <p:nvPr/>
        </p:nvSpPr>
        <p:spPr>
          <a:xfrm>
            <a:off x="1523999" y="127000"/>
            <a:ext cx="9143999" cy="647700"/>
          </a:xfrm>
          <a:prstGeom prst="roundRect">
            <a:avLst/>
          </a:prstGeom>
          <a:solidFill>
            <a:srgbClr val="FFF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title"/>
          <p:cNvSpPr txBox="1"/>
          <p:nvPr/>
        </p:nvSpPr>
        <p:spPr>
          <a:xfrm>
            <a:off x="1714499" y="215900"/>
            <a:ext cx="8762999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105236"/>
                </a:solidFill>
                <a:latin typeface="KaiTi"/>
              </a:rPr>
              <a:t>嘉年华路演：把中药文化变成可参与的青春体验</a:t>
            </a:r>
          </a:p>
        </p:txBody>
      </p:sp>
      <p:sp>
        <p:nvSpPr>
          <p:cNvPr id="5" name="photo-wall-title-shape"/>
          <p:cNvSpPr/>
          <p:nvPr/>
        </p:nvSpPr>
        <p:spPr>
          <a:xfrm>
            <a:off x="2000249" y="1143000"/>
            <a:ext cx="4063999" cy="317500"/>
          </a:xfrm>
          <a:prstGeom prst="roundRect">
            <a:avLst/>
          </a:prstGeom>
          <a:solidFill>
            <a:srgbClr val="105236"/>
          </a:solidFill>
          <a:ln w="1270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hoto-wall-title-text"/>
          <p:cNvSpPr txBox="1"/>
          <p:nvPr/>
        </p:nvSpPr>
        <p:spPr>
          <a:xfrm>
            <a:off x="2025649" y="1155700"/>
            <a:ext cx="4013199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FFFCF1"/>
                </a:solidFill>
                <a:latin typeface="Microsoft YaHei"/>
              </a:rPr>
              <a:t>真实现场照片 + 三个游戏机制</a:t>
            </a:r>
          </a:p>
        </p:txBody>
      </p:sp>
      <p:pic>
        <p:nvPicPr>
          <p:cNvPr id="7" name="photo-wall-layer" descr="slide_05_photo_wall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99" y="1384300"/>
            <a:ext cx="8661399" cy="3873500"/>
          </a:xfrm>
          <a:prstGeom prst="rect">
            <a:avLst/>
          </a:prstGeom>
        </p:spPr>
      </p:pic>
      <p:sp>
        <p:nvSpPr>
          <p:cNvPr id="8" name="pound-card"/>
          <p:cNvSpPr/>
          <p:nvPr/>
        </p:nvSpPr>
        <p:spPr>
          <a:xfrm>
            <a:off x="9112249" y="1524000"/>
            <a:ext cx="2666999" cy="92075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ound-icon-image" descr="slide_05_pound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749" y="1638300"/>
            <a:ext cx="666749" cy="666750"/>
          </a:xfrm>
          <a:prstGeom prst="rect">
            <a:avLst/>
          </a:prstGeom>
        </p:spPr>
      </p:pic>
      <p:sp>
        <p:nvSpPr>
          <p:cNvPr id="10" name="pound-title"/>
          <p:cNvSpPr txBox="1"/>
          <p:nvPr/>
        </p:nvSpPr>
        <p:spPr>
          <a:xfrm>
            <a:off x="10191749" y="1638300"/>
            <a:ext cx="1142999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05236"/>
                </a:solidFill>
                <a:latin typeface="Microsoft YaHei"/>
              </a:rPr>
              <a:t>捣药</a:t>
            </a:r>
          </a:p>
        </p:txBody>
      </p:sp>
      <p:sp>
        <p:nvSpPr>
          <p:cNvPr id="11" name="pound-body"/>
          <p:cNvSpPr txBox="1"/>
          <p:nvPr/>
        </p:nvSpPr>
        <p:spPr>
          <a:xfrm>
            <a:off x="10191749" y="1968500"/>
            <a:ext cx="1333499" cy="368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2D3627"/>
                </a:solidFill>
                <a:latin typeface="Microsoft YaHei"/>
              </a:rPr>
              <a:t>亲手体验</a:t>
            </a:r>
          </a:p>
          <a:p>
            <a:pPr algn="l"/>
            <a:r>
              <a:rPr sz="1250" b="0">
                <a:solidFill>
                  <a:srgbClr val="2D3627"/>
                </a:solidFill>
                <a:latin typeface="Microsoft YaHei"/>
              </a:rPr>
              <a:t>传统炮制的乐趣</a:t>
            </a:r>
          </a:p>
        </p:txBody>
      </p:sp>
      <p:sp>
        <p:nvSpPr>
          <p:cNvPr id="12" name="smell-card"/>
          <p:cNvSpPr/>
          <p:nvPr/>
        </p:nvSpPr>
        <p:spPr>
          <a:xfrm>
            <a:off x="9112249" y="2952750"/>
            <a:ext cx="2666999" cy="92075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mell-icon-image" descr="slide_05_smell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749" y="3067050"/>
            <a:ext cx="666749" cy="666750"/>
          </a:xfrm>
          <a:prstGeom prst="rect">
            <a:avLst/>
          </a:prstGeom>
        </p:spPr>
      </p:pic>
      <p:sp>
        <p:nvSpPr>
          <p:cNvPr id="14" name="smell-title"/>
          <p:cNvSpPr txBox="1"/>
          <p:nvPr/>
        </p:nvSpPr>
        <p:spPr>
          <a:xfrm>
            <a:off x="10191749" y="3067050"/>
            <a:ext cx="1142999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05236"/>
                </a:solidFill>
                <a:latin typeface="Microsoft YaHei"/>
              </a:rPr>
              <a:t>闻药</a:t>
            </a:r>
          </a:p>
        </p:txBody>
      </p:sp>
      <p:sp>
        <p:nvSpPr>
          <p:cNvPr id="15" name="smell-body"/>
          <p:cNvSpPr txBox="1"/>
          <p:nvPr/>
        </p:nvSpPr>
        <p:spPr>
          <a:xfrm>
            <a:off x="10191749" y="3397250"/>
            <a:ext cx="1333499" cy="368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2D3627"/>
                </a:solidFill>
                <a:latin typeface="Microsoft YaHei"/>
              </a:rPr>
              <a:t>轻嗅识香</a:t>
            </a:r>
          </a:p>
          <a:p>
            <a:pPr algn="l"/>
            <a:r>
              <a:rPr sz="1250" b="0">
                <a:solidFill>
                  <a:srgbClr val="2D3627"/>
                </a:solidFill>
                <a:latin typeface="Microsoft YaHei"/>
              </a:rPr>
              <a:t>辨别中药独特气味</a:t>
            </a:r>
          </a:p>
        </p:txBody>
      </p:sp>
      <p:sp>
        <p:nvSpPr>
          <p:cNvPr id="16" name="recognize-card"/>
          <p:cNvSpPr/>
          <p:nvPr/>
        </p:nvSpPr>
        <p:spPr>
          <a:xfrm>
            <a:off x="9112249" y="4381500"/>
            <a:ext cx="2666999" cy="920750"/>
          </a:xfrm>
          <a:prstGeom prst="roundRect">
            <a:avLst/>
          </a:prstGeom>
          <a:solidFill>
            <a:srgbClr val="FFFCF1"/>
          </a:solidFill>
          <a:ln w="12700">
            <a:solidFill>
              <a:srgbClr val="C6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recognize-icon-image" descr="slide_05_recognize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2749" y="4495800"/>
            <a:ext cx="666749" cy="666750"/>
          </a:xfrm>
          <a:prstGeom prst="rect">
            <a:avLst/>
          </a:prstGeom>
        </p:spPr>
      </p:pic>
      <p:sp>
        <p:nvSpPr>
          <p:cNvPr id="18" name="recognize-title"/>
          <p:cNvSpPr txBox="1"/>
          <p:nvPr/>
        </p:nvSpPr>
        <p:spPr>
          <a:xfrm>
            <a:off x="10191749" y="4495800"/>
            <a:ext cx="1142999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05236"/>
                </a:solidFill>
                <a:latin typeface="Microsoft YaHei"/>
              </a:rPr>
              <a:t>认药</a:t>
            </a:r>
          </a:p>
        </p:txBody>
      </p:sp>
      <p:sp>
        <p:nvSpPr>
          <p:cNvPr id="19" name="recognize-body"/>
          <p:cNvSpPr txBox="1"/>
          <p:nvPr/>
        </p:nvSpPr>
        <p:spPr>
          <a:xfrm>
            <a:off x="10191749" y="4826000"/>
            <a:ext cx="1333499" cy="368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2D3627"/>
                </a:solidFill>
                <a:latin typeface="Microsoft YaHei"/>
              </a:rPr>
              <a:t>辨识本草</a:t>
            </a:r>
          </a:p>
          <a:p>
            <a:pPr algn="l"/>
            <a:r>
              <a:rPr sz="1250" b="0">
                <a:solidFill>
                  <a:srgbClr val="2D3627"/>
                </a:solidFill>
                <a:latin typeface="Microsoft YaHei"/>
              </a:rPr>
              <a:t>认识常见中药材</a:t>
            </a:r>
          </a:p>
        </p:txBody>
      </p:sp>
      <p:sp>
        <p:nvSpPr>
          <p:cNvPr id="20" name="conclusion-strip"/>
          <p:cNvSpPr/>
          <p:nvPr/>
        </p:nvSpPr>
        <p:spPr>
          <a:xfrm>
            <a:off x="2158999" y="5715000"/>
            <a:ext cx="7873999" cy="431800"/>
          </a:xfrm>
          <a:prstGeom prst="roundRect">
            <a:avLst/>
          </a:prstGeom>
          <a:solidFill>
            <a:srgbClr val="053A28"/>
          </a:solidFill>
          <a:ln w="19050">
            <a:solidFill>
              <a:srgbClr val="F5D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nclusion-text"/>
          <p:cNvSpPr txBox="1"/>
          <p:nvPr/>
        </p:nvSpPr>
        <p:spPr>
          <a:xfrm>
            <a:off x="2412999" y="5759450"/>
            <a:ext cx="7365999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5DE96"/>
                </a:solidFill>
                <a:latin typeface="Microsoft YaHei"/>
              </a:rPr>
              <a:t>互动体验降低认知门槛，游戏化设计提升现场参与度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
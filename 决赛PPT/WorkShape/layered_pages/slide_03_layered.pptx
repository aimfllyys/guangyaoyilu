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base-image2-muted" descr="slide_03_background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itle-backplate"/>
          <p:cNvSpPr/>
          <p:nvPr/>
        </p:nvSpPr>
        <p:spPr>
          <a:xfrm>
            <a:off x="1523999" y="127000"/>
            <a:ext cx="9143999" cy="647700"/>
          </a:xfrm>
          <a:prstGeom prst="roundRect">
            <a:avLst/>
          </a:prstGeom>
          <a:solidFill>
            <a:srgbClr val="FFF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-title"/>
          <p:cNvSpPr txBox="1"/>
          <p:nvPr/>
        </p:nvSpPr>
        <p:spPr>
          <a:xfrm>
            <a:off x="1714499" y="215900"/>
            <a:ext cx="8762999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105236"/>
                </a:solidFill>
                <a:latin typeface="KaiTi"/>
              </a:rPr>
              <a:t>政策引领：青年实践回应中医药传承创新命题</a:t>
            </a:r>
          </a:p>
        </p:txBody>
      </p:sp>
      <p:sp>
        <p:nvSpPr>
          <p:cNvPr id="5" name="policy-health-card"/>
          <p:cNvSpPr/>
          <p:nvPr/>
        </p:nvSpPr>
        <p:spPr>
          <a:xfrm>
            <a:off x="507999" y="1587500"/>
            <a:ext cx="2444749" cy="3302000"/>
          </a:xfrm>
          <a:prstGeom prst="roundRect">
            <a:avLst/>
          </a:prstGeom>
          <a:solidFill>
            <a:srgbClr val="FFFCF1"/>
          </a:solidFill>
          <a:ln w="1397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icy-health-icon"/>
          <p:cNvSpPr/>
          <p:nvPr/>
        </p:nvSpPr>
        <p:spPr>
          <a:xfrm>
            <a:off x="1365249" y="1219200"/>
            <a:ext cx="571499" cy="571500"/>
          </a:xfrm>
          <a:prstGeom prst="ellipse">
            <a:avLst/>
          </a:prstGeom>
          <a:solidFill>
            <a:srgbClr val="105236"/>
          </a:solidFill>
          <a:ln w="1905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licy-health-icon-text"/>
          <p:cNvSpPr txBox="1"/>
          <p:nvPr/>
        </p:nvSpPr>
        <p:spPr>
          <a:xfrm>
            <a:off x="1365249" y="1219200"/>
            <a:ext cx="571499" cy="571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5DE96"/>
                </a:solidFill>
                <a:latin typeface="Microsoft YaHei"/>
              </a:rPr>
              <a:t>健</a:t>
            </a:r>
          </a:p>
        </p:txBody>
      </p:sp>
      <p:sp>
        <p:nvSpPr>
          <p:cNvPr id="8" name="policy-health-label-shape"/>
          <p:cNvSpPr/>
          <p:nvPr/>
        </p:nvSpPr>
        <p:spPr>
          <a:xfrm>
            <a:off x="857249" y="1873250"/>
            <a:ext cx="1746249" cy="3048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licy-health-label-text"/>
          <p:cNvSpPr txBox="1"/>
          <p:nvPr/>
        </p:nvSpPr>
        <p:spPr>
          <a:xfrm>
            <a:off x="882649" y="1885950"/>
            <a:ext cx="169544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20" b="1">
                <a:solidFill>
                  <a:srgbClr val="FFFCF1"/>
                </a:solidFill>
                <a:latin typeface="Microsoft YaHei"/>
              </a:rPr>
              <a:t>健康中国建设</a:t>
            </a:r>
          </a:p>
        </p:txBody>
      </p:sp>
      <p:pic>
        <p:nvPicPr>
          <p:cNvPr id="10" name="policy-health-image" descr="slide_03_health_image_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99" y="2476500"/>
            <a:ext cx="1714499" cy="1003300"/>
          </a:xfrm>
          <a:prstGeom prst="rect">
            <a:avLst/>
          </a:prstGeom>
        </p:spPr>
      </p:pic>
      <p:sp>
        <p:nvSpPr>
          <p:cNvPr id="11" name="policy-health-body"/>
          <p:cNvSpPr txBox="1"/>
          <p:nvPr/>
        </p:nvSpPr>
        <p:spPr>
          <a:xfrm>
            <a:off x="888999" y="3683000"/>
            <a:ext cx="1714499" cy="793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2D3627"/>
                </a:solidFill>
                <a:latin typeface="Microsoft YaHei"/>
              </a:rPr>
              <a:t>• 以人民健康为中心</a:t>
            </a:r>
          </a:p>
          <a:p>
            <a:pPr algn="l"/>
            <a:r>
              <a:rPr sz="940" b="0">
                <a:solidFill>
                  <a:srgbClr val="2D3627"/>
                </a:solidFill>
                <a:latin typeface="Microsoft YaHei"/>
              </a:rPr>
              <a:t>• 推动健康知识普及与素养提升</a:t>
            </a:r>
          </a:p>
          <a:p>
            <a:pPr algn="l"/>
            <a:r>
              <a:rPr sz="940" b="0">
                <a:solidFill>
                  <a:srgbClr val="2D3627"/>
                </a:solidFill>
                <a:latin typeface="Microsoft YaHei"/>
              </a:rPr>
              <a:t>• 促进中医药融入健康生活方式</a:t>
            </a:r>
          </a:p>
        </p:txBody>
      </p:sp>
      <p:sp>
        <p:nvSpPr>
          <p:cNvPr id="12" name="policy-inherit-card"/>
          <p:cNvSpPr/>
          <p:nvPr/>
        </p:nvSpPr>
        <p:spPr>
          <a:xfrm>
            <a:off x="3270249" y="1587500"/>
            <a:ext cx="2444749" cy="3302000"/>
          </a:xfrm>
          <a:prstGeom prst="roundRect">
            <a:avLst/>
          </a:prstGeom>
          <a:solidFill>
            <a:srgbClr val="FFFCF1"/>
          </a:solidFill>
          <a:ln w="1397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icy-inherit-icon"/>
          <p:cNvSpPr/>
          <p:nvPr/>
        </p:nvSpPr>
        <p:spPr>
          <a:xfrm>
            <a:off x="4127499" y="1219200"/>
            <a:ext cx="571499" cy="571500"/>
          </a:xfrm>
          <a:prstGeom prst="ellipse">
            <a:avLst/>
          </a:prstGeom>
          <a:solidFill>
            <a:srgbClr val="105236"/>
          </a:solidFill>
          <a:ln w="1905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licy-inherit-icon-text"/>
          <p:cNvSpPr txBox="1"/>
          <p:nvPr/>
        </p:nvSpPr>
        <p:spPr>
          <a:xfrm>
            <a:off x="4127499" y="1219200"/>
            <a:ext cx="571499" cy="571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5DE96"/>
                </a:solidFill>
                <a:latin typeface="Microsoft YaHei"/>
              </a:rPr>
              <a:t>药</a:t>
            </a:r>
          </a:p>
        </p:txBody>
      </p:sp>
      <p:sp>
        <p:nvSpPr>
          <p:cNvPr id="15" name="policy-inherit-label-shape"/>
          <p:cNvSpPr/>
          <p:nvPr/>
        </p:nvSpPr>
        <p:spPr>
          <a:xfrm>
            <a:off x="3619499" y="1873250"/>
            <a:ext cx="1746249" cy="3048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licy-inherit-label-text"/>
          <p:cNvSpPr txBox="1"/>
          <p:nvPr/>
        </p:nvSpPr>
        <p:spPr>
          <a:xfrm>
            <a:off x="3644899" y="1885950"/>
            <a:ext cx="169544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20" b="1">
                <a:solidFill>
                  <a:srgbClr val="FFFCF1"/>
                </a:solidFill>
                <a:latin typeface="Microsoft YaHei"/>
              </a:rPr>
              <a:t>中医药传承创新</a:t>
            </a:r>
          </a:p>
        </p:txBody>
      </p:sp>
      <p:pic>
        <p:nvPicPr>
          <p:cNvPr id="17" name="policy-inherit-image" descr="slide_03_inherit_image_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549" y="2476500"/>
            <a:ext cx="1714499" cy="1003300"/>
          </a:xfrm>
          <a:prstGeom prst="rect">
            <a:avLst/>
          </a:prstGeom>
        </p:spPr>
      </p:pic>
      <p:sp>
        <p:nvSpPr>
          <p:cNvPr id="18" name="policy-inherit-body"/>
          <p:cNvSpPr txBox="1"/>
          <p:nvPr/>
        </p:nvSpPr>
        <p:spPr>
          <a:xfrm>
            <a:off x="3651249" y="3683000"/>
            <a:ext cx="1714499" cy="793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2D3627"/>
                </a:solidFill>
                <a:latin typeface="Microsoft YaHei"/>
              </a:rPr>
              <a:t>• 传承精华，守正创新</a:t>
            </a:r>
          </a:p>
          <a:p>
            <a:pPr algn="l"/>
            <a:r>
              <a:rPr sz="940" b="0">
                <a:solidFill>
                  <a:srgbClr val="2D3627"/>
                </a:solidFill>
                <a:latin typeface="Microsoft YaHei"/>
              </a:rPr>
              <a:t>• 推动中医药现代化与国际化</a:t>
            </a:r>
          </a:p>
          <a:p>
            <a:pPr algn="l"/>
            <a:r>
              <a:rPr sz="940" b="0">
                <a:solidFill>
                  <a:srgbClr val="2D3627"/>
                </a:solidFill>
                <a:latin typeface="Microsoft YaHei"/>
              </a:rPr>
              <a:t>• 促进中医药文化创造性转化、创新性发展</a:t>
            </a:r>
          </a:p>
        </p:txBody>
      </p:sp>
      <p:sp>
        <p:nvSpPr>
          <p:cNvPr id="19" name="policy-youth-card"/>
          <p:cNvSpPr/>
          <p:nvPr/>
        </p:nvSpPr>
        <p:spPr>
          <a:xfrm>
            <a:off x="6032499" y="1587500"/>
            <a:ext cx="2444749" cy="3302000"/>
          </a:xfrm>
          <a:prstGeom prst="roundRect">
            <a:avLst/>
          </a:prstGeom>
          <a:solidFill>
            <a:srgbClr val="FFFCF1"/>
          </a:solidFill>
          <a:ln w="1397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licy-youth-icon"/>
          <p:cNvSpPr/>
          <p:nvPr/>
        </p:nvSpPr>
        <p:spPr>
          <a:xfrm>
            <a:off x="6889749" y="1219200"/>
            <a:ext cx="571499" cy="571500"/>
          </a:xfrm>
          <a:prstGeom prst="ellipse">
            <a:avLst/>
          </a:prstGeom>
          <a:solidFill>
            <a:srgbClr val="105236"/>
          </a:solidFill>
          <a:ln w="1905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licy-youth-icon-text"/>
          <p:cNvSpPr txBox="1"/>
          <p:nvPr/>
        </p:nvSpPr>
        <p:spPr>
          <a:xfrm>
            <a:off x="6889749" y="1219200"/>
            <a:ext cx="571499" cy="571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5DE96"/>
                </a:solidFill>
                <a:latin typeface="Microsoft YaHei"/>
              </a:rPr>
              <a:t>青</a:t>
            </a:r>
          </a:p>
        </p:txBody>
      </p:sp>
      <p:sp>
        <p:nvSpPr>
          <p:cNvPr id="22" name="policy-youth-label-shape"/>
          <p:cNvSpPr/>
          <p:nvPr/>
        </p:nvSpPr>
        <p:spPr>
          <a:xfrm>
            <a:off x="6381749" y="1873250"/>
            <a:ext cx="1746249" cy="3048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licy-youth-label-text"/>
          <p:cNvSpPr txBox="1"/>
          <p:nvPr/>
        </p:nvSpPr>
        <p:spPr>
          <a:xfrm>
            <a:off x="6407149" y="1885950"/>
            <a:ext cx="169544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20" b="1">
                <a:solidFill>
                  <a:srgbClr val="FFFCF1"/>
                </a:solidFill>
                <a:latin typeface="Microsoft YaHei"/>
              </a:rPr>
              <a:t>青年团支部实践</a:t>
            </a:r>
          </a:p>
        </p:txBody>
      </p:sp>
      <p:pic>
        <p:nvPicPr>
          <p:cNvPr id="24" name="policy-youth-image" descr="slide_03_youth_image_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799" y="2476500"/>
            <a:ext cx="1714499" cy="1003300"/>
          </a:xfrm>
          <a:prstGeom prst="rect">
            <a:avLst/>
          </a:prstGeom>
        </p:spPr>
      </p:pic>
      <p:sp>
        <p:nvSpPr>
          <p:cNvPr id="25" name="policy-youth-body"/>
          <p:cNvSpPr txBox="1"/>
          <p:nvPr/>
        </p:nvSpPr>
        <p:spPr>
          <a:xfrm>
            <a:off x="6413499" y="3683000"/>
            <a:ext cx="1714499" cy="793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2D3627"/>
                </a:solidFill>
                <a:latin typeface="Microsoft YaHei"/>
              </a:rPr>
              <a:t>• 发挥团支部组织力与引领力</a:t>
            </a:r>
          </a:p>
          <a:p>
            <a:pPr algn="l"/>
            <a:r>
              <a:rPr sz="940" b="0">
                <a:solidFill>
                  <a:srgbClr val="2D3627"/>
                </a:solidFill>
                <a:latin typeface="Microsoft YaHei"/>
              </a:rPr>
              <a:t>• 将中医药知识转化为实践行动</a:t>
            </a:r>
          </a:p>
          <a:p>
            <a:pPr algn="l"/>
            <a:r>
              <a:rPr sz="940" b="0">
                <a:solidFill>
                  <a:srgbClr val="2D3627"/>
                </a:solidFill>
                <a:latin typeface="Microsoft YaHei"/>
              </a:rPr>
              <a:t>• 用青年视角讲好中医药故事</a:t>
            </a:r>
          </a:p>
        </p:txBody>
      </p:sp>
      <p:sp>
        <p:nvSpPr>
          <p:cNvPr id="26" name="path-panel"/>
          <p:cNvSpPr/>
          <p:nvPr/>
        </p:nvSpPr>
        <p:spPr>
          <a:xfrm>
            <a:off x="8826499" y="1428750"/>
            <a:ext cx="2730499" cy="3556000"/>
          </a:xfrm>
          <a:prstGeom prst="roundRect">
            <a:avLst/>
          </a:prstGeom>
          <a:solidFill>
            <a:srgbClr val="FFFCF1"/>
          </a:solidFill>
          <a:ln w="1397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th-title-shape"/>
          <p:cNvSpPr/>
          <p:nvPr/>
        </p:nvSpPr>
        <p:spPr>
          <a:xfrm>
            <a:off x="9080499" y="1587500"/>
            <a:ext cx="2222499" cy="3175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th-title-text"/>
          <p:cNvSpPr txBox="1"/>
          <p:nvPr/>
        </p:nvSpPr>
        <p:spPr>
          <a:xfrm>
            <a:off x="9105899" y="1600200"/>
            <a:ext cx="2171699" cy="292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CF1"/>
                </a:solidFill>
                <a:latin typeface="Microsoft YaHei"/>
              </a:rPr>
              <a:t>项目响应路径</a:t>
            </a:r>
          </a:p>
        </p:txBody>
      </p:sp>
      <p:sp>
        <p:nvSpPr>
          <p:cNvPr id="29" name="path-num-1"/>
          <p:cNvSpPr/>
          <p:nvPr/>
        </p:nvSpPr>
        <p:spPr>
          <a:xfrm>
            <a:off x="9143999" y="2108200"/>
            <a:ext cx="304799" cy="304800"/>
          </a:xfrm>
          <a:prstGeom prst="ellipse">
            <a:avLst/>
          </a:prstGeom>
          <a:solidFill>
            <a:srgbClr val="C69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th-num-text-1"/>
          <p:cNvSpPr txBox="1"/>
          <p:nvPr/>
        </p:nvSpPr>
        <p:spPr>
          <a:xfrm>
            <a:off x="9143999" y="2108200"/>
            <a:ext cx="304799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CF1"/>
                </a:solidFill>
                <a:latin typeface="Microsoft YaHei"/>
              </a:rPr>
              <a:t>1</a:t>
            </a:r>
          </a:p>
        </p:txBody>
      </p:sp>
      <p:sp>
        <p:nvSpPr>
          <p:cNvPr id="31" name="path-step-1"/>
          <p:cNvSpPr/>
          <p:nvPr/>
        </p:nvSpPr>
        <p:spPr>
          <a:xfrm>
            <a:off x="9601199" y="2057400"/>
            <a:ext cx="1555749" cy="406400"/>
          </a:xfrm>
          <a:prstGeom prst="roundRect">
            <a:avLst/>
          </a:prstGeom>
          <a:solidFill>
            <a:srgbClr val="F9F6E8"/>
          </a:solidFill>
          <a:ln w="1016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th-step-text-1"/>
          <p:cNvSpPr txBox="1"/>
          <p:nvPr/>
        </p:nvSpPr>
        <p:spPr>
          <a:xfrm>
            <a:off x="9683749" y="2120900"/>
            <a:ext cx="139699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2D3627"/>
                </a:solidFill>
                <a:latin typeface="Microsoft YaHei"/>
              </a:rPr>
              <a:t>调研发现需求</a:t>
            </a:r>
          </a:p>
        </p:txBody>
      </p:sp>
      <p:sp>
        <p:nvSpPr>
          <p:cNvPr id="33" name="path-num-2"/>
          <p:cNvSpPr/>
          <p:nvPr/>
        </p:nvSpPr>
        <p:spPr>
          <a:xfrm>
            <a:off x="9143999" y="2774950"/>
            <a:ext cx="304799" cy="304800"/>
          </a:xfrm>
          <a:prstGeom prst="ellipse">
            <a:avLst/>
          </a:prstGeom>
          <a:solidFill>
            <a:srgbClr val="C69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th-num-text-2"/>
          <p:cNvSpPr txBox="1"/>
          <p:nvPr/>
        </p:nvSpPr>
        <p:spPr>
          <a:xfrm>
            <a:off x="9143999" y="2774950"/>
            <a:ext cx="304799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CF1"/>
                </a:solidFill>
                <a:latin typeface="Microsoft YaHei"/>
              </a:rPr>
              <a:t>2</a:t>
            </a:r>
          </a:p>
        </p:txBody>
      </p:sp>
      <p:sp>
        <p:nvSpPr>
          <p:cNvPr id="35" name="path-step-2"/>
          <p:cNvSpPr/>
          <p:nvPr/>
        </p:nvSpPr>
        <p:spPr>
          <a:xfrm>
            <a:off x="9601199" y="2724150"/>
            <a:ext cx="1555749" cy="406400"/>
          </a:xfrm>
          <a:prstGeom prst="roundRect">
            <a:avLst/>
          </a:prstGeom>
          <a:solidFill>
            <a:srgbClr val="F9F6E8"/>
          </a:solidFill>
          <a:ln w="1016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ath-step-text-2"/>
          <p:cNvSpPr txBox="1"/>
          <p:nvPr/>
        </p:nvSpPr>
        <p:spPr>
          <a:xfrm>
            <a:off x="9683749" y="2787650"/>
            <a:ext cx="139699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2D3627"/>
                </a:solidFill>
                <a:latin typeface="Microsoft YaHei"/>
              </a:rPr>
              <a:t>活动降低门槛</a:t>
            </a:r>
          </a:p>
        </p:txBody>
      </p:sp>
      <p:sp>
        <p:nvSpPr>
          <p:cNvPr id="37" name="path-num-3"/>
          <p:cNvSpPr/>
          <p:nvPr/>
        </p:nvSpPr>
        <p:spPr>
          <a:xfrm>
            <a:off x="9143999" y="3441700"/>
            <a:ext cx="304799" cy="304800"/>
          </a:xfrm>
          <a:prstGeom prst="ellipse">
            <a:avLst/>
          </a:prstGeom>
          <a:solidFill>
            <a:srgbClr val="C69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th-num-text-3"/>
          <p:cNvSpPr txBox="1"/>
          <p:nvPr/>
        </p:nvSpPr>
        <p:spPr>
          <a:xfrm>
            <a:off x="9143999" y="3441700"/>
            <a:ext cx="304799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CF1"/>
                </a:solidFill>
                <a:latin typeface="Microsoft YaHei"/>
              </a:rPr>
              <a:t>3</a:t>
            </a:r>
          </a:p>
        </p:txBody>
      </p:sp>
      <p:sp>
        <p:nvSpPr>
          <p:cNvPr id="39" name="path-step-3"/>
          <p:cNvSpPr/>
          <p:nvPr/>
        </p:nvSpPr>
        <p:spPr>
          <a:xfrm>
            <a:off x="9601199" y="3390900"/>
            <a:ext cx="1555749" cy="406400"/>
          </a:xfrm>
          <a:prstGeom prst="roundRect">
            <a:avLst/>
          </a:prstGeom>
          <a:solidFill>
            <a:srgbClr val="F9F6E8"/>
          </a:solidFill>
          <a:ln w="1016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ath-step-text-3"/>
          <p:cNvSpPr txBox="1"/>
          <p:nvPr/>
        </p:nvSpPr>
        <p:spPr>
          <a:xfrm>
            <a:off x="9683749" y="3454400"/>
            <a:ext cx="139699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2D3627"/>
                </a:solidFill>
                <a:latin typeface="Microsoft YaHei"/>
              </a:rPr>
              <a:t>服务走向基层</a:t>
            </a:r>
          </a:p>
        </p:txBody>
      </p:sp>
      <p:sp>
        <p:nvSpPr>
          <p:cNvPr id="41" name="path-num-4"/>
          <p:cNvSpPr/>
          <p:nvPr/>
        </p:nvSpPr>
        <p:spPr>
          <a:xfrm>
            <a:off x="9143999" y="4108450"/>
            <a:ext cx="304799" cy="304800"/>
          </a:xfrm>
          <a:prstGeom prst="ellipse">
            <a:avLst/>
          </a:prstGeom>
          <a:solidFill>
            <a:srgbClr val="C69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th-num-text-4"/>
          <p:cNvSpPr txBox="1"/>
          <p:nvPr/>
        </p:nvSpPr>
        <p:spPr>
          <a:xfrm>
            <a:off x="9143999" y="4108450"/>
            <a:ext cx="304799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CF1"/>
                </a:solidFill>
                <a:latin typeface="Microsoft YaHei"/>
              </a:rPr>
              <a:t>4</a:t>
            </a:r>
          </a:p>
        </p:txBody>
      </p:sp>
      <p:sp>
        <p:nvSpPr>
          <p:cNvPr id="43" name="path-step-4"/>
          <p:cNvSpPr/>
          <p:nvPr/>
        </p:nvSpPr>
        <p:spPr>
          <a:xfrm>
            <a:off x="9601199" y="4057650"/>
            <a:ext cx="1555749" cy="406400"/>
          </a:xfrm>
          <a:prstGeom prst="roundRect">
            <a:avLst/>
          </a:prstGeom>
          <a:solidFill>
            <a:srgbClr val="F9F6E8"/>
          </a:solidFill>
          <a:ln w="1016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ath-step-text-4"/>
          <p:cNvSpPr txBox="1"/>
          <p:nvPr/>
        </p:nvSpPr>
        <p:spPr>
          <a:xfrm>
            <a:off x="9683749" y="4121150"/>
            <a:ext cx="139699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2D3627"/>
                </a:solidFill>
                <a:latin typeface="Microsoft YaHei"/>
              </a:rPr>
              <a:t>网站持续传播</a:t>
            </a:r>
          </a:p>
        </p:txBody>
      </p:sp>
      <p:sp>
        <p:nvSpPr>
          <p:cNvPr id="45" name="conclusion-strip"/>
          <p:cNvSpPr/>
          <p:nvPr/>
        </p:nvSpPr>
        <p:spPr>
          <a:xfrm>
            <a:off x="2158999" y="6032500"/>
            <a:ext cx="7873999" cy="431800"/>
          </a:xfrm>
          <a:prstGeom prst="roundRect">
            <a:avLst/>
          </a:prstGeom>
          <a:solidFill>
            <a:srgbClr val="053A28"/>
          </a:solidFill>
          <a:ln w="1905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onclusion-text"/>
          <p:cNvSpPr txBox="1"/>
          <p:nvPr/>
        </p:nvSpPr>
        <p:spPr>
          <a:xfrm>
            <a:off x="2412999" y="6076950"/>
            <a:ext cx="7365999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5DE96"/>
                </a:solidFill>
                <a:latin typeface="Microsoft YaHei"/>
              </a:rPr>
              <a:t>把政策命题转化为青年能参与、能传播、能沉淀的中医药文化实践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
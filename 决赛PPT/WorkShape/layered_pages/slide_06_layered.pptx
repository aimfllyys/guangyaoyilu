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base-image2-muted" descr="slide_06_background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itle-backplate"/>
          <p:cNvSpPr/>
          <p:nvPr/>
        </p:nvSpPr>
        <p:spPr>
          <a:xfrm>
            <a:off x="1523999" y="127000"/>
            <a:ext cx="9143999" cy="647700"/>
          </a:xfrm>
          <a:prstGeom prst="roundRect">
            <a:avLst/>
          </a:prstGeom>
          <a:solidFill>
            <a:srgbClr val="FFF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-title"/>
          <p:cNvSpPr txBox="1"/>
          <p:nvPr/>
        </p:nvSpPr>
        <p:spPr>
          <a:xfrm>
            <a:off x="1714499" y="215900"/>
            <a:ext cx="8762999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05236"/>
                </a:solidFill>
                <a:latin typeface="KaiTi"/>
              </a:rPr>
              <a:t>走进叶开泰博物馆：在实地探访中理解本草传承</a:t>
            </a:r>
          </a:p>
        </p:txBody>
      </p:sp>
      <p:sp>
        <p:nvSpPr>
          <p:cNvPr id="5" name="photo-process-title-shape"/>
          <p:cNvSpPr/>
          <p:nvPr/>
        </p:nvSpPr>
        <p:spPr>
          <a:xfrm>
            <a:off x="3714749" y="1016000"/>
            <a:ext cx="4762499" cy="3302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hoto-process-title-text"/>
          <p:cNvSpPr txBox="1"/>
          <p:nvPr/>
        </p:nvSpPr>
        <p:spPr>
          <a:xfrm>
            <a:off x="3740149" y="1028700"/>
            <a:ext cx="4711699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CF1"/>
                </a:solidFill>
                <a:latin typeface="Microsoft YaHei"/>
              </a:rPr>
              <a:t>真实照片流呈现实地参访过程</a:t>
            </a:r>
          </a:p>
        </p:txBody>
      </p:sp>
      <p:pic>
        <p:nvPicPr>
          <p:cNvPr id="7" name="museum-main-photo" descr="slide_06_museum_main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49" y="1428750"/>
            <a:ext cx="5429249" cy="3524250"/>
          </a:xfrm>
          <a:prstGeom prst="rect">
            <a:avLst/>
          </a:prstGeom>
        </p:spPr>
      </p:pic>
      <p:pic>
        <p:nvPicPr>
          <p:cNvPr id="8" name="museum-photo-grid" descr="slide_06_museum_photo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999" y="1428750"/>
            <a:ext cx="5905499" cy="3524250"/>
          </a:xfrm>
          <a:prstGeom prst="rect">
            <a:avLst/>
          </a:prstGeom>
        </p:spPr>
      </p:pic>
      <p:sp>
        <p:nvSpPr>
          <p:cNvPr id="9" name="step-icon-0"/>
          <p:cNvSpPr/>
          <p:nvPr/>
        </p:nvSpPr>
        <p:spPr>
          <a:xfrm>
            <a:off x="1968499" y="5365750"/>
            <a:ext cx="457199" cy="457200"/>
          </a:xfrm>
          <a:prstGeom prst="ellipse">
            <a:avLst/>
          </a:prstGeom>
          <a:solidFill>
            <a:srgbClr val="105236"/>
          </a:solidFill>
          <a:ln w="1905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-num-0"/>
          <p:cNvSpPr txBox="1"/>
          <p:nvPr/>
        </p:nvSpPr>
        <p:spPr>
          <a:xfrm>
            <a:off x="2108199" y="5346700"/>
            <a:ext cx="17779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CF1"/>
                </a:solidFill>
                <a:latin typeface="Microsoft YaHei"/>
              </a:rPr>
              <a:t>1</a:t>
            </a:r>
          </a:p>
        </p:txBody>
      </p:sp>
      <p:sp>
        <p:nvSpPr>
          <p:cNvPr id="11" name="step-icon-text-0"/>
          <p:cNvSpPr txBox="1"/>
          <p:nvPr/>
        </p:nvSpPr>
        <p:spPr>
          <a:xfrm>
            <a:off x="1968499" y="5397500"/>
            <a:ext cx="457199" cy="406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展</a:t>
            </a:r>
          </a:p>
        </p:txBody>
      </p:sp>
      <p:sp>
        <p:nvSpPr>
          <p:cNvPr id="12" name="step-title-0"/>
          <p:cNvSpPr txBox="1"/>
          <p:nvPr/>
        </p:nvSpPr>
        <p:spPr>
          <a:xfrm>
            <a:off x="2539999" y="5334000"/>
            <a:ext cx="1142999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0" b="1">
                <a:solidFill>
                  <a:srgbClr val="105236"/>
                </a:solidFill>
                <a:latin typeface="Microsoft YaHei"/>
              </a:rPr>
              <a:t>参观展陈</a:t>
            </a:r>
          </a:p>
        </p:txBody>
      </p:sp>
      <p:sp>
        <p:nvSpPr>
          <p:cNvPr id="13" name="step-body-0"/>
          <p:cNvSpPr txBox="1"/>
          <p:nvPr/>
        </p:nvSpPr>
        <p:spPr>
          <a:xfrm>
            <a:off x="2539999" y="5619750"/>
            <a:ext cx="1523999" cy="444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80" b="0">
                <a:solidFill>
                  <a:srgbClr val="2D3627"/>
                </a:solidFill>
                <a:latin typeface="Microsoft YaHei"/>
              </a:rPr>
              <a:t>走进展厅，了解</a:t>
            </a:r>
          </a:p>
          <a:p>
            <a:pPr algn="l"/>
            <a:r>
              <a:rPr sz="980" b="0">
                <a:solidFill>
                  <a:srgbClr val="2D3627"/>
                </a:solidFill>
                <a:latin typeface="Microsoft YaHei"/>
              </a:rPr>
              <a:t>叶开泰历史与中医药发展</a:t>
            </a:r>
          </a:p>
        </p:txBody>
      </p:sp>
      <p:sp>
        <p:nvSpPr>
          <p:cNvPr id="14" name="step-icon-1"/>
          <p:cNvSpPr/>
          <p:nvPr/>
        </p:nvSpPr>
        <p:spPr>
          <a:xfrm>
            <a:off x="4254499" y="5365750"/>
            <a:ext cx="457199" cy="457200"/>
          </a:xfrm>
          <a:prstGeom prst="ellipse">
            <a:avLst/>
          </a:prstGeom>
          <a:solidFill>
            <a:srgbClr val="105236"/>
          </a:solidFill>
          <a:ln w="1905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ep-num-1"/>
          <p:cNvSpPr txBox="1"/>
          <p:nvPr/>
        </p:nvSpPr>
        <p:spPr>
          <a:xfrm>
            <a:off x="4394199" y="5346700"/>
            <a:ext cx="17779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CF1"/>
                </a:solidFill>
                <a:latin typeface="Microsoft YaHei"/>
              </a:rPr>
              <a:t>2</a:t>
            </a:r>
          </a:p>
        </p:txBody>
      </p:sp>
      <p:sp>
        <p:nvSpPr>
          <p:cNvPr id="16" name="step-icon-text-1"/>
          <p:cNvSpPr txBox="1"/>
          <p:nvPr/>
        </p:nvSpPr>
        <p:spPr>
          <a:xfrm>
            <a:off x="4254499" y="5397500"/>
            <a:ext cx="457199" cy="406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讲</a:t>
            </a:r>
          </a:p>
        </p:txBody>
      </p:sp>
      <p:sp>
        <p:nvSpPr>
          <p:cNvPr id="17" name="step-title-1"/>
          <p:cNvSpPr txBox="1"/>
          <p:nvPr/>
        </p:nvSpPr>
        <p:spPr>
          <a:xfrm>
            <a:off x="4825999" y="5334000"/>
            <a:ext cx="1142999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0" b="1">
                <a:solidFill>
                  <a:srgbClr val="105236"/>
                </a:solidFill>
                <a:latin typeface="Microsoft YaHei"/>
              </a:rPr>
              <a:t>聆听讲解</a:t>
            </a:r>
          </a:p>
        </p:txBody>
      </p:sp>
      <p:sp>
        <p:nvSpPr>
          <p:cNvPr id="18" name="step-body-1"/>
          <p:cNvSpPr txBox="1"/>
          <p:nvPr/>
        </p:nvSpPr>
        <p:spPr>
          <a:xfrm>
            <a:off x="4825999" y="5619750"/>
            <a:ext cx="1523999" cy="444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80" b="0">
                <a:solidFill>
                  <a:srgbClr val="2D3627"/>
                </a:solidFill>
                <a:latin typeface="Microsoft YaHei"/>
              </a:rPr>
              <a:t>专业讲解员带领，</a:t>
            </a:r>
          </a:p>
          <a:p>
            <a:pPr algn="l"/>
            <a:r>
              <a:rPr sz="980" b="0">
                <a:solidFill>
                  <a:srgbClr val="2D3627"/>
                </a:solidFill>
                <a:latin typeface="Microsoft YaHei"/>
              </a:rPr>
              <a:t>深入理解本草文化</a:t>
            </a:r>
          </a:p>
        </p:txBody>
      </p:sp>
      <p:sp>
        <p:nvSpPr>
          <p:cNvPr id="19" name="step-icon-2"/>
          <p:cNvSpPr/>
          <p:nvPr/>
        </p:nvSpPr>
        <p:spPr>
          <a:xfrm>
            <a:off x="6540499" y="5365750"/>
            <a:ext cx="457199" cy="457200"/>
          </a:xfrm>
          <a:prstGeom prst="ellipse">
            <a:avLst/>
          </a:prstGeom>
          <a:solidFill>
            <a:srgbClr val="105236"/>
          </a:solidFill>
          <a:ln w="1905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ep-num-2"/>
          <p:cNvSpPr txBox="1"/>
          <p:nvPr/>
        </p:nvSpPr>
        <p:spPr>
          <a:xfrm>
            <a:off x="6680199" y="5346700"/>
            <a:ext cx="17779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CF1"/>
                </a:solidFill>
                <a:latin typeface="Microsoft YaHei"/>
              </a:rPr>
              <a:t>3</a:t>
            </a:r>
          </a:p>
        </p:txBody>
      </p:sp>
      <p:sp>
        <p:nvSpPr>
          <p:cNvPr id="21" name="step-icon-text-2"/>
          <p:cNvSpPr txBox="1"/>
          <p:nvPr/>
        </p:nvSpPr>
        <p:spPr>
          <a:xfrm>
            <a:off x="6540499" y="5397500"/>
            <a:ext cx="457199" cy="406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识</a:t>
            </a:r>
          </a:p>
        </p:txBody>
      </p:sp>
      <p:sp>
        <p:nvSpPr>
          <p:cNvPr id="22" name="step-title-2"/>
          <p:cNvSpPr txBox="1"/>
          <p:nvPr/>
        </p:nvSpPr>
        <p:spPr>
          <a:xfrm>
            <a:off x="7111999" y="5334000"/>
            <a:ext cx="1142999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0" b="1">
                <a:solidFill>
                  <a:srgbClr val="105236"/>
                </a:solidFill>
                <a:latin typeface="Microsoft YaHei"/>
              </a:rPr>
              <a:t>识读药材</a:t>
            </a:r>
          </a:p>
        </p:txBody>
      </p:sp>
      <p:sp>
        <p:nvSpPr>
          <p:cNvPr id="23" name="step-body-2"/>
          <p:cNvSpPr txBox="1"/>
          <p:nvPr/>
        </p:nvSpPr>
        <p:spPr>
          <a:xfrm>
            <a:off x="7111999" y="5619750"/>
            <a:ext cx="1523999" cy="444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80" b="0">
                <a:solidFill>
                  <a:srgbClr val="2D3627"/>
                </a:solidFill>
                <a:latin typeface="Microsoft YaHei"/>
              </a:rPr>
              <a:t>近距离观察药材，</a:t>
            </a:r>
          </a:p>
          <a:p>
            <a:pPr algn="l"/>
            <a:r>
              <a:rPr sz="980" b="0">
                <a:solidFill>
                  <a:srgbClr val="2D3627"/>
                </a:solidFill>
                <a:latin typeface="Microsoft YaHei"/>
              </a:rPr>
              <a:t>学习药性与应用知识</a:t>
            </a:r>
          </a:p>
        </p:txBody>
      </p:sp>
      <p:sp>
        <p:nvSpPr>
          <p:cNvPr id="24" name="step-icon-3"/>
          <p:cNvSpPr/>
          <p:nvPr/>
        </p:nvSpPr>
        <p:spPr>
          <a:xfrm>
            <a:off x="8826499" y="5365750"/>
            <a:ext cx="457199" cy="457200"/>
          </a:xfrm>
          <a:prstGeom prst="ellipse">
            <a:avLst/>
          </a:prstGeom>
          <a:solidFill>
            <a:srgbClr val="105236"/>
          </a:solidFill>
          <a:ln w="1905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ep-num-3"/>
          <p:cNvSpPr txBox="1"/>
          <p:nvPr/>
        </p:nvSpPr>
        <p:spPr>
          <a:xfrm>
            <a:off x="8966199" y="5346700"/>
            <a:ext cx="17779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CF1"/>
                </a:solidFill>
                <a:latin typeface="Microsoft YaHei"/>
              </a:rPr>
              <a:t>4</a:t>
            </a:r>
          </a:p>
        </p:txBody>
      </p:sp>
      <p:sp>
        <p:nvSpPr>
          <p:cNvPr id="26" name="step-icon-text-3"/>
          <p:cNvSpPr txBox="1"/>
          <p:nvPr/>
        </p:nvSpPr>
        <p:spPr>
          <a:xfrm>
            <a:off x="8826499" y="5397500"/>
            <a:ext cx="457199" cy="406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悟</a:t>
            </a:r>
          </a:p>
        </p:txBody>
      </p:sp>
      <p:sp>
        <p:nvSpPr>
          <p:cNvPr id="27" name="step-title-3"/>
          <p:cNvSpPr txBox="1"/>
          <p:nvPr/>
        </p:nvSpPr>
        <p:spPr>
          <a:xfrm>
            <a:off x="9397999" y="5334000"/>
            <a:ext cx="1142999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20" b="1">
                <a:solidFill>
                  <a:srgbClr val="105236"/>
                </a:solidFill>
                <a:latin typeface="Microsoft YaHei"/>
              </a:rPr>
              <a:t>交流感悟</a:t>
            </a:r>
          </a:p>
        </p:txBody>
      </p:sp>
      <p:sp>
        <p:nvSpPr>
          <p:cNvPr id="28" name="step-body-3"/>
          <p:cNvSpPr txBox="1"/>
          <p:nvPr/>
        </p:nvSpPr>
        <p:spPr>
          <a:xfrm>
            <a:off x="9397999" y="5619750"/>
            <a:ext cx="1523999" cy="444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80" b="0">
                <a:solidFill>
                  <a:srgbClr val="2D3627"/>
                </a:solidFill>
                <a:latin typeface="Microsoft YaHei"/>
              </a:rPr>
              <a:t>互动交流，深化认识，</a:t>
            </a:r>
          </a:p>
          <a:p>
            <a:pPr algn="l"/>
            <a:r>
              <a:rPr sz="980" b="0">
                <a:solidFill>
                  <a:srgbClr val="2D3627"/>
                </a:solidFill>
                <a:latin typeface="Microsoft YaHei"/>
              </a:rPr>
              <a:t>感受中医药传承的力量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
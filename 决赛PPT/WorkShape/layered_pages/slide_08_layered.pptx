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8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-backplate"/>
          <p:cNvSpPr/>
          <p:nvPr/>
        </p:nvSpPr>
        <p:spPr>
          <a:xfrm>
            <a:off x="1523999" y="127000"/>
            <a:ext cx="9143999" cy="6477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714499" y="215900"/>
            <a:ext cx="87629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0" b="1">
                <a:solidFill>
                  <a:srgbClr val="105236"/>
                </a:solidFill>
                <a:latin typeface="KaiTi"/>
              </a:rPr>
              <a:t>科普网站：把“光药医路”延展为可持续数字入口</a:t>
            </a:r>
          </a:p>
        </p:txBody>
      </p:sp>
      <p:pic>
        <p:nvPicPr>
          <p:cNvPr id="5" name="website-screenshot-layer" descr="slide_08_website_screenshot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99" y="825500"/>
            <a:ext cx="8191499" cy="4572000"/>
          </a:xfrm>
          <a:prstGeom prst="rect">
            <a:avLst/>
          </a:prstGeom>
        </p:spPr>
      </p:pic>
      <p:sp>
        <p:nvSpPr>
          <p:cNvPr id="6" name="prototype-title-shape"/>
          <p:cNvSpPr/>
          <p:nvPr/>
        </p:nvSpPr>
        <p:spPr>
          <a:xfrm>
            <a:off x="8826499" y="889000"/>
            <a:ext cx="2031999" cy="355600"/>
          </a:xfrm>
          <a:prstGeom prst="roundRect">
            <a:avLst/>
          </a:prstGeom>
          <a:solidFill>
            <a:srgbClr val="951F1C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totype-title-text"/>
          <p:cNvSpPr txBox="1"/>
          <p:nvPr/>
        </p:nvSpPr>
        <p:spPr>
          <a:xfrm>
            <a:off x="8851899" y="901700"/>
            <a:ext cx="19811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建设中 / 功能原型</a:t>
            </a:r>
          </a:p>
        </p:txBody>
      </p:sp>
      <p:sp>
        <p:nvSpPr>
          <p:cNvPr id="8" name="feature-icon-0"/>
          <p:cNvSpPr/>
          <p:nvPr/>
        </p:nvSpPr>
        <p:spPr>
          <a:xfrm>
            <a:off x="8953499" y="1428750"/>
            <a:ext cx="393699" cy="393700"/>
          </a:xfrm>
          <a:prstGeom prst="ellipse">
            <a:avLst/>
          </a:prstGeom>
          <a:solidFill>
            <a:srgbClr val="105236"/>
          </a:solidFill>
          <a:ln w="1524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eature-icon-text-0"/>
          <p:cNvSpPr txBox="1"/>
          <p:nvPr/>
        </p:nvSpPr>
        <p:spPr>
          <a:xfrm>
            <a:off x="8953499" y="1428750"/>
            <a:ext cx="393699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DE96"/>
                </a:solidFill>
                <a:latin typeface="Microsoft YaHei"/>
              </a:rPr>
              <a:t>群</a:t>
            </a:r>
          </a:p>
        </p:txBody>
      </p:sp>
      <p:sp>
        <p:nvSpPr>
          <p:cNvPr id="10" name="feature-num-0"/>
          <p:cNvSpPr txBox="1"/>
          <p:nvPr/>
        </p:nvSpPr>
        <p:spPr>
          <a:xfrm>
            <a:off x="9461499" y="1441450"/>
            <a:ext cx="2857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69E50"/>
                </a:solidFill>
                <a:latin typeface="Microsoft YaHei"/>
              </a:rPr>
              <a:t>01</a:t>
            </a:r>
          </a:p>
        </p:txBody>
      </p:sp>
      <p:sp>
        <p:nvSpPr>
          <p:cNvPr id="11" name="feature-title-0"/>
          <p:cNvSpPr txBox="1"/>
          <p:nvPr/>
        </p:nvSpPr>
        <p:spPr>
          <a:xfrm>
            <a:off x="9778999" y="1416050"/>
            <a:ext cx="1396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3627"/>
                </a:solidFill>
                <a:latin typeface="Microsoft YaHei"/>
              </a:rPr>
              <a:t>支部特色</a:t>
            </a:r>
          </a:p>
        </p:txBody>
      </p:sp>
      <p:sp>
        <p:nvSpPr>
          <p:cNvPr id="12" name="feature-body-0"/>
          <p:cNvSpPr txBox="1"/>
          <p:nvPr/>
        </p:nvSpPr>
        <p:spPr>
          <a:xfrm>
            <a:off x="9778999" y="1651000"/>
            <a:ext cx="15874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D3627"/>
                </a:solidFill>
                <a:latin typeface="Microsoft YaHei"/>
              </a:rPr>
              <a:t>联合团支部特色展示</a:t>
            </a:r>
          </a:p>
        </p:txBody>
      </p:sp>
      <p:sp>
        <p:nvSpPr>
          <p:cNvPr id="13" name="feature-icon-1"/>
          <p:cNvSpPr/>
          <p:nvPr/>
        </p:nvSpPr>
        <p:spPr>
          <a:xfrm>
            <a:off x="8953499" y="1987550"/>
            <a:ext cx="393699" cy="393700"/>
          </a:xfrm>
          <a:prstGeom prst="ellipse">
            <a:avLst/>
          </a:prstGeom>
          <a:solidFill>
            <a:srgbClr val="105236"/>
          </a:solidFill>
          <a:ln w="1524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eature-icon-text-1"/>
          <p:cNvSpPr txBox="1"/>
          <p:nvPr/>
        </p:nvSpPr>
        <p:spPr>
          <a:xfrm>
            <a:off x="8953499" y="1987550"/>
            <a:ext cx="393699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DE96"/>
                </a:solidFill>
                <a:latin typeface="Microsoft YaHei"/>
              </a:rPr>
              <a:t>书</a:t>
            </a:r>
          </a:p>
        </p:txBody>
      </p:sp>
      <p:sp>
        <p:nvSpPr>
          <p:cNvPr id="15" name="feature-num-1"/>
          <p:cNvSpPr txBox="1"/>
          <p:nvPr/>
        </p:nvSpPr>
        <p:spPr>
          <a:xfrm>
            <a:off x="9461499" y="2000250"/>
            <a:ext cx="2857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69E50"/>
                </a:solidFill>
                <a:latin typeface="Microsoft YaHei"/>
              </a:rPr>
              <a:t>02</a:t>
            </a:r>
          </a:p>
        </p:txBody>
      </p:sp>
      <p:sp>
        <p:nvSpPr>
          <p:cNvPr id="16" name="feature-title-1"/>
          <p:cNvSpPr txBox="1"/>
          <p:nvPr/>
        </p:nvSpPr>
        <p:spPr>
          <a:xfrm>
            <a:off x="9778999" y="1974850"/>
            <a:ext cx="1396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3627"/>
                </a:solidFill>
                <a:latin typeface="Microsoft YaHei"/>
              </a:rPr>
              <a:t>中药百科</a:t>
            </a:r>
          </a:p>
        </p:txBody>
      </p:sp>
      <p:sp>
        <p:nvSpPr>
          <p:cNvPr id="17" name="feature-body-1"/>
          <p:cNvSpPr txBox="1"/>
          <p:nvPr/>
        </p:nvSpPr>
        <p:spPr>
          <a:xfrm>
            <a:off x="9778999" y="2209800"/>
            <a:ext cx="15874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D3627"/>
                </a:solidFill>
                <a:latin typeface="Microsoft YaHei"/>
              </a:rPr>
              <a:t>中药知识系统化呈现</a:t>
            </a:r>
          </a:p>
        </p:txBody>
      </p:sp>
      <p:sp>
        <p:nvSpPr>
          <p:cNvPr id="18" name="feature-icon-2"/>
          <p:cNvSpPr/>
          <p:nvPr/>
        </p:nvSpPr>
        <p:spPr>
          <a:xfrm>
            <a:off x="8953499" y="2546350"/>
            <a:ext cx="393699" cy="393700"/>
          </a:xfrm>
          <a:prstGeom prst="ellipse">
            <a:avLst/>
          </a:prstGeom>
          <a:solidFill>
            <a:srgbClr val="105236"/>
          </a:solidFill>
          <a:ln w="1524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eature-icon-text-2"/>
          <p:cNvSpPr txBox="1"/>
          <p:nvPr/>
        </p:nvSpPr>
        <p:spPr>
          <a:xfrm>
            <a:off x="8953499" y="2546350"/>
            <a:ext cx="393699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DE96"/>
                </a:solidFill>
                <a:latin typeface="Microsoft YaHei"/>
              </a:rPr>
              <a:t>课</a:t>
            </a:r>
          </a:p>
        </p:txBody>
      </p:sp>
      <p:sp>
        <p:nvSpPr>
          <p:cNvPr id="20" name="feature-num-2"/>
          <p:cNvSpPr txBox="1"/>
          <p:nvPr/>
        </p:nvSpPr>
        <p:spPr>
          <a:xfrm>
            <a:off x="9461499" y="2559050"/>
            <a:ext cx="2857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69E50"/>
                </a:solidFill>
                <a:latin typeface="Microsoft YaHei"/>
              </a:rPr>
              <a:t>03</a:t>
            </a:r>
          </a:p>
        </p:txBody>
      </p:sp>
      <p:sp>
        <p:nvSpPr>
          <p:cNvPr id="21" name="feature-title-2"/>
          <p:cNvSpPr txBox="1"/>
          <p:nvPr/>
        </p:nvSpPr>
        <p:spPr>
          <a:xfrm>
            <a:off x="9778999" y="2533650"/>
            <a:ext cx="1396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3627"/>
                </a:solidFill>
                <a:latin typeface="Microsoft YaHei"/>
              </a:rPr>
              <a:t>趣味课堂</a:t>
            </a:r>
          </a:p>
        </p:txBody>
      </p:sp>
      <p:sp>
        <p:nvSpPr>
          <p:cNvPr id="22" name="feature-body-2"/>
          <p:cNvSpPr txBox="1"/>
          <p:nvPr/>
        </p:nvSpPr>
        <p:spPr>
          <a:xfrm>
            <a:off x="9778999" y="2768600"/>
            <a:ext cx="15874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D3627"/>
                </a:solidFill>
                <a:latin typeface="Microsoft YaHei"/>
              </a:rPr>
              <a:t>科普课程图文视频结合</a:t>
            </a:r>
          </a:p>
        </p:txBody>
      </p:sp>
      <p:sp>
        <p:nvSpPr>
          <p:cNvPr id="23" name="feature-icon-3"/>
          <p:cNvSpPr/>
          <p:nvPr/>
        </p:nvSpPr>
        <p:spPr>
          <a:xfrm>
            <a:off x="8953499" y="3105150"/>
            <a:ext cx="393699" cy="393700"/>
          </a:xfrm>
          <a:prstGeom prst="ellipse">
            <a:avLst/>
          </a:prstGeom>
          <a:solidFill>
            <a:srgbClr val="105236"/>
          </a:solidFill>
          <a:ln w="1524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eature-icon-text-3"/>
          <p:cNvSpPr txBox="1"/>
          <p:nvPr/>
        </p:nvSpPr>
        <p:spPr>
          <a:xfrm>
            <a:off x="8953499" y="3105150"/>
            <a:ext cx="393699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DE96"/>
                </a:solidFill>
                <a:latin typeface="Microsoft YaHei"/>
              </a:rPr>
              <a:t>游</a:t>
            </a:r>
          </a:p>
        </p:txBody>
      </p:sp>
      <p:sp>
        <p:nvSpPr>
          <p:cNvPr id="25" name="feature-num-3"/>
          <p:cNvSpPr txBox="1"/>
          <p:nvPr/>
        </p:nvSpPr>
        <p:spPr>
          <a:xfrm>
            <a:off x="9461499" y="3117850"/>
            <a:ext cx="2857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69E50"/>
                </a:solidFill>
                <a:latin typeface="Microsoft YaHei"/>
              </a:rPr>
              <a:t>04</a:t>
            </a:r>
          </a:p>
        </p:txBody>
      </p:sp>
      <p:sp>
        <p:nvSpPr>
          <p:cNvPr id="26" name="feature-title-3"/>
          <p:cNvSpPr txBox="1"/>
          <p:nvPr/>
        </p:nvSpPr>
        <p:spPr>
          <a:xfrm>
            <a:off x="9778999" y="3092450"/>
            <a:ext cx="1396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3627"/>
                </a:solidFill>
                <a:latin typeface="Microsoft YaHei"/>
              </a:rPr>
              <a:t>互动游戏</a:t>
            </a:r>
          </a:p>
        </p:txBody>
      </p:sp>
      <p:sp>
        <p:nvSpPr>
          <p:cNvPr id="27" name="feature-body-3"/>
          <p:cNvSpPr txBox="1"/>
          <p:nvPr/>
        </p:nvSpPr>
        <p:spPr>
          <a:xfrm>
            <a:off x="9778999" y="3327400"/>
            <a:ext cx="15874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D3627"/>
                </a:solidFill>
                <a:latin typeface="Microsoft YaHei"/>
              </a:rPr>
              <a:t>趣味游戏提升参与度</a:t>
            </a:r>
          </a:p>
        </p:txBody>
      </p:sp>
      <p:sp>
        <p:nvSpPr>
          <p:cNvPr id="28" name="feature-icon-4"/>
          <p:cNvSpPr/>
          <p:nvPr/>
        </p:nvSpPr>
        <p:spPr>
          <a:xfrm>
            <a:off x="8953499" y="3663950"/>
            <a:ext cx="393699" cy="393700"/>
          </a:xfrm>
          <a:prstGeom prst="ellipse">
            <a:avLst/>
          </a:prstGeom>
          <a:solidFill>
            <a:srgbClr val="105236"/>
          </a:solidFill>
          <a:ln w="1524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eature-icon-text-4"/>
          <p:cNvSpPr txBox="1"/>
          <p:nvPr/>
        </p:nvSpPr>
        <p:spPr>
          <a:xfrm>
            <a:off x="8953499" y="3663950"/>
            <a:ext cx="393699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DE96"/>
                </a:solidFill>
                <a:latin typeface="Microsoft YaHei"/>
              </a:rPr>
              <a:t>研</a:t>
            </a:r>
          </a:p>
        </p:txBody>
      </p:sp>
      <p:sp>
        <p:nvSpPr>
          <p:cNvPr id="30" name="feature-num-4"/>
          <p:cNvSpPr txBox="1"/>
          <p:nvPr/>
        </p:nvSpPr>
        <p:spPr>
          <a:xfrm>
            <a:off x="9461499" y="3676650"/>
            <a:ext cx="2857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69E50"/>
                </a:solidFill>
                <a:latin typeface="Microsoft YaHei"/>
              </a:rPr>
              <a:t>05</a:t>
            </a:r>
          </a:p>
        </p:txBody>
      </p:sp>
      <p:sp>
        <p:nvSpPr>
          <p:cNvPr id="31" name="feature-title-4"/>
          <p:cNvSpPr txBox="1"/>
          <p:nvPr/>
        </p:nvSpPr>
        <p:spPr>
          <a:xfrm>
            <a:off x="9778999" y="3651250"/>
            <a:ext cx="1396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3627"/>
                </a:solidFill>
                <a:latin typeface="Microsoft YaHei"/>
              </a:rPr>
              <a:t>研究成果</a:t>
            </a:r>
          </a:p>
        </p:txBody>
      </p:sp>
      <p:sp>
        <p:nvSpPr>
          <p:cNvPr id="32" name="feature-body-4"/>
          <p:cNvSpPr txBox="1"/>
          <p:nvPr/>
        </p:nvSpPr>
        <p:spPr>
          <a:xfrm>
            <a:off x="9778999" y="3886200"/>
            <a:ext cx="15874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D3627"/>
                </a:solidFill>
                <a:latin typeface="Microsoft YaHei"/>
              </a:rPr>
              <a:t>展示最新研究成果</a:t>
            </a:r>
          </a:p>
        </p:txBody>
      </p:sp>
      <p:sp>
        <p:nvSpPr>
          <p:cNvPr id="33" name="feature-icon-5"/>
          <p:cNvSpPr/>
          <p:nvPr/>
        </p:nvSpPr>
        <p:spPr>
          <a:xfrm>
            <a:off x="8953499" y="4222750"/>
            <a:ext cx="393699" cy="393700"/>
          </a:xfrm>
          <a:prstGeom prst="ellipse">
            <a:avLst/>
          </a:prstGeom>
          <a:solidFill>
            <a:srgbClr val="105236"/>
          </a:solidFill>
          <a:ln w="1524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eature-icon-text-5"/>
          <p:cNvSpPr txBox="1"/>
          <p:nvPr/>
        </p:nvSpPr>
        <p:spPr>
          <a:xfrm>
            <a:off x="8953499" y="4222750"/>
            <a:ext cx="393699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DE96"/>
                </a:solidFill>
                <a:latin typeface="Microsoft YaHei"/>
              </a:rPr>
              <a:t>联</a:t>
            </a:r>
          </a:p>
        </p:txBody>
      </p:sp>
      <p:sp>
        <p:nvSpPr>
          <p:cNvPr id="35" name="feature-num-5"/>
          <p:cNvSpPr txBox="1"/>
          <p:nvPr/>
        </p:nvSpPr>
        <p:spPr>
          <a:xfrm>
            <a:off x="9461499" y="4235450"/>
            <a:ext cx="2857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69E50"/>
                </a:solidFill>
                <a:latin typeface="Microsoft YaHei"/>
              </a:rPr>
              <a:t>06</a:t>
            </a:r>
          </a:p>
        </p:txBody>
      </p:sp>
      <p:sp>
        <p:nvSpPr>
          <p:cNvPr id="36" name="feature-title-5"/>
          <p:cNvSpPr txBox="1"/>
          <p:nvPr/>
        </p:nvSpPr>
        <p:spPr>
          <a:xfrm>
            <a:off x="9778999" y="4210050"/>
            <a:ext cx="13969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3627"/>
                </a:solidFill>
                <a:latin typeface="Microsoft YaHei"/>
              </a:rPr>
              <a:t>联系我们</a:t>
            </a:r>
          </a:p>
        </p:txBody>
      </p:sp>
      <p:sp>
        <p:nvSpPr>
          <p:cNvPr id="37" name="feature-body-5"/>
          <p:cNvSpPr txBox="1"/>
          <p:nvPr/>
        </p:nvSpPr>
        <p:spPr>
          <a:xfrm>
            <a:off x="9778999" y="4445000"/>
            <a:ext cx="15874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2D3627"/>
                </a:solidFill>
                <a:latin typeface="Microsoft YaHei"/>
              </a:rPr>
              <a:t>留言反馈，持续优化</a:t>
            </a:r>
          </a:p>
        </p:txBody>
      </p:sp>
      <p:sp>
        <p:nvSpPr>
          <p:cNvPr id="38" name="vertical-banner"/>
          <p:cNvSpPr/>
          <p:nvPr/>
        </p:nvSpPr>
        <p:spPr>
          <a:xfrm>
            <a:off x="11493499" y="1968500"/>
            <a:ext cx="482599" cy="1905000"/>
          </a:xfrm>
          <a:prstGeom prst="roundRect">
            <a:avLst/>
          </a:prstGeom>
          <a:solidFill>
            <a:srgbClr val="105236"/>
          </a:solidFill>
          <a:ln w="1651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ertical-banner-text"/>
          <p:cNvSpPr txBox="1"/>
          <p:nvPr/>
        </p:nvSpPr>
        <p:spPr>
          <a:xfrm>
            <a:off x="11518899" y="2044700"/>
            <a:ext cx="431799" cy="1752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DE96"/>
                </a:solidFill>
                <a:latin typeface="Microsoft YaHei"/>
              </a:rPr>
              <a:t>数字赋能</a:t>
            </a:r>
          </a:p>
          <a:p>
            <a:pPr algn="ctr"/>
            <a:r>
              <a:rPr sz="1500" b="1">
                <a:solidFill>
                  <a:srgbClr val="F5DE96"/>
                </a:solidFill>
                <a:latin typeface="Microsoft YaHei"/>
              </a:rPr>
              <a:t>传承创新</a:t>
            </a:r>
          </a:p>
        </p:txBody>
      </p:sp>
      <p:sp>
        <p:nvSpPr>
          <p:cNvPr id="40" name="bottom-feature-0-card"/>
          <p:cNvSpPr/>
          <p:nvPr/>
        </p:nvSpPr>
        <p:spPr>
          <a:xfrm>
            <a:off x="2222499" y="5651500"/>
            <a:ext cx="1873249" cy="6985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ottom-feature-0-icon"/>
          <p:cNvSpPr/>
          <p:nvPr/>
        </p:nvSpPr>
        <p:spPr>
          <a:xfrm>
            <a:off x="2362199" y="58166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ottom-feature-0-icon-text"/>
          <p:cNvSpPr txBox="1"/>
          <p:nvPr/>
        </p:nvSpPr>
        <p:spPr>
          <a:xfrm>
            <a:off x="2362199" y="58166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群</a:t>
            </a:r>
          </a:p>
        </p:txBody>
      </p:sp>
      <p:sp>
        <p:nvSpPr>
          <p:cNvPr id="43" name="bottom-feature-0-title"/>
          <p:cNvSpPr txBox="1"/>
          <p:nvPr/>
        </p:nvSpPr>
        <p:spPr>
          <a:xfrm>
            <a:off x="2908299" y="5765800"/>
            <a:ext cx="1073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05236"/>
                </a:solidFill>
                <a:latin typeface="Microsoft YaHei"/>
              </a:rPr>
              <a:t>联合团支部特色展示</a:t>
            </a:r>
          </a:p>
        </p:txBody>
      </p:sp>
      <p:sp>
        <p:nvSpPr>
          <p:cNvPr id="44" name="bottom-feature-0-body"/>
          <p:cNvSpPr txBox="1"/>
          <p:nvPr/>
        </p:nvSpPr>
        <p:spPr>
          <a:xfrm>
            <a:off x="2908299" y="6007100"/>
            <a:ext cx="10731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三支部风采与项目实践</a:t>
            </a:r>
          </a:p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集中呈现</a:t>
            </a:r>
          </a:p>
        </p:txBody>
      </p:sp>
      <p:sp>
        <p:nvSpPr>
          <p:cNvPr id="45" name="bottom-feature-1-card"/>
          <p:cNvSpPr/>
          <p:nvPr/>
        </p:nvSpPr>
        <p:spPr>
          <a:xfrm>
            <a:off x="4317999" y="5651500"/>
            <a:ext cx="1873249" cy="6985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ottom-feature-1-icon"/>
          <p:cNvSpPr/>
          <p:nvPr/>
        </p:nvSpPr>
        <p:spPr>
          <a:xfrm>
            <a:off x="4457699" y="58166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ottom-feature-1-icon-text"/>
          <p:cNvSpPr txBox="1"/>
          <p:nvPr/>
        </p:nvSpPr>
        <p:spPr>
          <a:xfrm>
            <a:off x="4457699" y="58166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助</a:t>
            </a:r>
          </a:p>
        </p:txBody>
      </p:sp>
      <p:sp>
        <p:nvSpPr>
          <p:cNvPr id="48" name="bottom-feature-1-title"/>
          <p:cNvSpPr txBox="1"/>
          <p:nvPr/>
        </p:nvSpPr>
        <p:spPr>
          <a:xfrm>
            <a:off x="5003799" y="5765800"/>
            <a:ext cx="1073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05236"/>
                </a:solidFill>
                <a:latin typeface="Microsoft YaHei"/>
              </a:rPr>
              <a:t>Q版瑶光助手</a:t>
            </a:r>
          </a:p>
        </p:txBody>
      </p:sp>
      <p:sp>
        <p:nvSpPr>
          <p:cNvPr id="49" name="bottom-feature-1-body"/>
          <p:cNvSpPr txBox="1"/>
          <p:nvPr/>
        </p:nvSpPr>
        <p:spPr>
          <a:xfrm>
            <a:off x="5003799" y="6007100"/>
            <a:ext cx="10731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智能互动引导陪伴，</a:t>
            </a:r>
          </a:p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提升科普体验感</a:t>
            </a:r>
          </a:p>
        </p:txBody>
      </p:sp>
      <p:sp>
        <p:nvSpPr>
          <p:cNvPr id="50" name="bottom-feature-2-card"/>
          <p:cNvSpPr/>
          <p:nvPr/>
        </p:nvSpPr>
        <p:spPr>
          <a:xfrm>
            <a:off x="6413499" y="5651500"/>
            <a:ext cx="1873249" cy="6985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ottom-feature-2-icon"/>
          <p:cNvSpPr/>
          <p:nvPr/>
        </p:nvSpPr>
        <p:spPr>
          <a:xfrm>
            <a:off x="6553199" y="58166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ottom-feature-2-icon-text"/>
          <p:cNvSpPr txBox="1"/>
          <p:nvPr/>
        </p:nvSpPr>
        <p:spPr>
          <a:xfrm>
            <a:off x="6553199" y="58166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查</a:t>
            </a:r>
          </a:p>
        </p:txBody>
      </p:sp>
      <p:sp>
        <p:nvSpPr>
          <p:cNvPr id="53" name="bottom-feature-2-title"/>
          <p:cNvSpPr txBox="1"/>
          <p:nvPr/>
        </p:nvSpPr>
        <p:spPr>
          <a:xfrm>
            <a:off x="7099299" y="5765800"/>
            <a:ext cx="1073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05236"/>
                </a:solidFill>
                <a:latin typeface="Microsoft YaHei"/>
              </a:rPr>
              <a:t>中药功能查询</a:t>
            </a:r>
          </a:p>
        </p:txBody>
      </p:sp>
      <p:sp>
        <p:nvSpPr>
          <p:cNvPr id="54" name="bottom-feature-2-body"/>
          <p:cNvSpPr txBox="1"/>
          <p:nvPr/>
        </p:nvSpPr>
        <p:spPr>
          <a:xfrm>
            <a:off x="7099299" y="6007100"/>
            <a:ext cx="10731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便捷检索药材功效，</a:t>
            </a:r>
          </a:p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科学实用</a:t>
            </a:r>
          </a:p>
        </p:txBody>
      </p:sp>
      <p:sp>
        <p:nvSpPr>
          <p:cNvPr id="55" name="bottom-feature-3-card"/>
          <p:cNvSpPr/>
          <p:nvPr/>
        </p:nvSpPr>
        <p:spPr>
          <a:xfrm>
            <a:off x="8508999" y="5651500"/>
            <a:ext cx="1873249" cy="6985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ottom-feature-3-icon"/>
          <p:cNvSpPr/>
          <p:nvPr/>
        </p:nvSpPr>
        <p:spPr>
          <a:xfrm>
            <a:off x="8648699" y="58166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ottom-feature-3-icon-text"/>
          <p:cNvSpPr txBox="1"/>
          <p:nvPr/>
        </p:nvSpPr>
        <p:spPr>
          <a:xfrm>
            <a:off x="8648699" y="58166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游</a:t>
            </a:r>
          </a:p>
        </p:txBody>
      </p:sp>
      <p:sp>
        <p:nvSpPr>
          <p:cNvPr id="58" name="bottom-feature-3-title"/>
          <p:cNvSpPr txBox="1"/>
          <p:nvPr/>
        </p:nvSpPr>
        <p:spPr>
          <a:xfrm>
            <a:off x="9194799" y="5765800"/>
            <a:ext cx="1073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05236"/>
                </a:solidFill>
                <a:latin typeface="Microsoft YaHei"/>
              </a:rPr>
              <a:t>趣味问答小游戏</a:t>
            </a:r>
          </a:p>
        </p:txBody>
      </p:sp>
      <p:sp>
        <p:nvSpPr>
          <p:cNvPr id="59" name="bottom-feature-3-body"/>
          <p:cNvSpPr txBox="1"/>
          <p:nvPr/>
        </p:nvSpPr>
        <p:spPr>
          <a:xfrm>
            <a:off x="9194799" y="6007100"/>
            <a:ext cx="10731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游戏化学习，</a:t>
            </a:r>
          </a:p>
          <a:p>
            <a:pPr algn="l"/>
            <a:r>
              <a:rPr sz="860" b="0">
                <a:solidFill>
                  <a:srgbClr val="2D3627"/>
                </a:solidFill>
                <a:latin typeface="Microsoft YaHei"/>
              </a:rPr>
              <a:t>• 激发兴趣与参与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
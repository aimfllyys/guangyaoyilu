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7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itle-backplate"/>
          <p:cNvSpPr/>
          <p:nvPr/>
        </p:nvSpPr>
        <p:spPr>
          <a:xfrm>
            <a:off x="1523999" y="127000"/>
            <a:ext cx="9143999" cy="6477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1714499" y="215900"/>
            <a:ext cx="87629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5236"/>
                </a:solidFill>
                <a:latin typeface="KaiTi"/>
              </a:rPr>
              <a:t>青暖冬日：从母校宣讲到实地考察的实践路线</a:t>
            </a:r>
          </a:p>
        </p:txBody>
      </p:sp>
      <p:sp>
        <p:nvSpPr>
          <p:cNvPr id="5" name="subtitle-line-left"/>
          <p:cNvSpPr/>
          <p:nvPr/>
        </p:nvSpPr>
        <p:spPr>
          <a:xfrm>
            <a:off x="1587499" y="920750"/>
            <a:ext cx="3301999" cy="12700"/>
          </a:xfrm>
          <a:prstGeom prst="rect">
            <a:avLst/>
          </a:prstGeom>
          <a:solidFill>
            <a:srgbClr val="C69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-line-right"/>
          <p:cNvSpPr/>
          <p:nvPr/>
        </p:nvSpPr>
        <p:spPr>
          <a:xfrm>
            <a:off x="7302499" y="920750"/>
            <a:ext cx="3301999" cy="12700"/>
          </a:xfrm>
          <a:prstGeom prst="rect">
            <a:avLst/>
          </a:prstGeom>
          <a:solidFill>
            <a:srgbClr val="C69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ubtitle"/>
          <p:cNvSpPr txBox="1"/>
          <p:nvPr/>
        </p:nvSpPr>
        <p:spPr>
          <a:xfrm>
            <a:off x="4889499" y="774700"/>
            <a:ext cx="2412999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>
                <a:solidFill>
                  <a:srgbClr val="2D3627"/>
                </a:solidFill>
                <a:latin typeface="Microsoft YaHei"/>
              </a:rPr>
              <a:t>宣讲图片、地图参考与实地参访素材共同支撑</a:t>
            </a:r>
          </a:p>
        </p:txBody>
      </p:sp>
      <p:pic>
        <p:nvPicPr>
          <p:cNvPr id="8" name="map-route-layer" descr="slide_07_map_route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9" y="1174750"/>
            <a:ext cx="6762749" cy="3873500"/>
          </a:xfrm>
          <a:prstGeom prst="rect">
            <a:avLst/>
          </a:prstGeom>
        </p:spPr>
      </p:pic>
      <p:pic>
        <p:nvPicPr>
          <p:cNvPr id="9" name="field-photo-grid" descr="slide_07_field_photo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499" y="1174750"/>
            <a:ext cx="4952999" cy="3873500"/>
          </a:xfrm>
          <a:prstGeom prst="rect">
            <a:avLst/>
          </a:prstGeom>
        </p:spPr>
      </p:pic>
      <p:sp>
        <p:nvSpPr>
          <p:cNvPr id="10" name="route-1-card"/>
          <p:cNvSpPr/>
          <p:nvPr/>
        </p:nvSpPr>
        <p:spPr>
          <a:xfrm>
            <a:off x="730249" y="5232400"/>
            <a:ext cx="247649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te-1-icon"/>
          <p:cNvSpPr/>
          <p:nvPr/>
        </p:nvSpPr>
        <p:spPr>
          <a:xfrm>
            <a:off x="869949" y="539750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te-1-icon-text"/>
          <p:cNvSpPr txBox="1"/>
          <p:nvPr/>
        </p:nvSpPr>
        <p:spPr>
          <a:xfrm>
            <a:off x="869949" y="539750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校</a:t>
            </a:r>
          </a:p>
        </p:txBody>
      </p:sp>
      <p:sp>
        <p:nvSpPr>
          <p:cNvPr id="13" name="route-1-title"/>
          <p:cNvSpPr txBox="1"/>
          <p:nvPr/>
        </p:nvSpPr>
        <p:spPr>
          <a:xfrm>
            <a:off x="1416049" y="5346700"/>
            <a:ext cx="167639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05236"/>
                </a:solidFill>
                <a:latin typeface="Microsoft YaHei"/>
              </a:rPr>
              <a:t>1  返回母校</a:t>
            </a:r>
          </a:p>
        </p:txBody>
      </p:sp>
      <p:sp>
        <p:nvSpPr>
          <p:cNvPr id="14" name="route-1-body"/>
          <p:cNvSpPr txBox="1"/>
          <p:nvPr/>
        </p:nvSpPr>
        <p:spPr>
          <a:xfrm>
            <a:off x="1416049" y="5588000"/>
            <a:ext cx="167639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2D3627"/>
                </a:solidFill>
                <a:latin typeface="Microsoft YaHei"/>
              </a:rPr>
              <a:t>• 面向青年讲清本草文化</a:t>
            </a:r>
          </a:p>
        </p:txBody>
      </p:sp>
      <p:sp>
        <p:nvSpPr>
          <p:cNvPr id="15" name="route-2-card"/>
          <p:cNvSpPr/>
          <p:nvPr/>
        </p:nvSpPr>
        <p:spPr>
          <a:xfrm>
            <a:off x="3524249" y="5232400"/>
            <a:ext cx="247649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te-2-icon"/>
          <p:cNvSpPr/>
          <p:nvPr/>
        </p:nvSpPr>
        <p:spPr>
          <a:xfrm>
            <a:off x="3663949" y="539750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te-2-icon-text"/>
          <p:cNvSpPr txBox="1"/>
          <p:nvPr/>
        </p:nvSpPr>
        <p:spPr>
          <a:xfrm>
            <a:off x="3663949" y="539750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讲</a:t>
            </a:r>
          </a:p>
        </p:txBody>
      </p:sp>
      <p:sp>
        <p:nvSpPr>
          <p:cNvPr id="18" name="route-2-title"/>
          <p:cNvSpPr txBox="1"/>
          <p:nvPr/>
        </p:nvSpPr>
        <p:spPr>
          <a:xfrm>
            <a:off x="4210049" y="5346700"/>
            <a:ext cx="167639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05236"/>
                </a:solidFill>
                <a:latin typeface="Microsoft YaHei"/>
              </a:rPr>
              <a:t>2  中医药宣讲</a:t>
            </a:r>
          </a:p>
        </p:txBody>
      </p:sp>
      <p:sp>
        <p:nvSpPr>
          <p:cNvPr id="19" name="route-2-body"/>
          <p:cNvSpPr txBox="1"/>
          <p:nvPr/>
        </p:nvSpPr>
        <p:spPr>
          <a:xfrm>
            <a:off x="4210049" y="5588000"/>
            <a:ext cx="167639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2D3627"/>
                </a:solidFill>
                <a:latin typeface="Microsoft YaHei"/>
              </a:rPr>
              <a:t>• 用校园语言连接传统文化</a:t>
            </a:r>
          </a:p>
        </p:txBody>
      </p:sp>
      <p:sp>
        <p:nvSpPr>
          <p:cNvPr id="20" name="route-3-card"/>
          <p:cNvSpPr/>
          <p:nvPr/>
        </p:nvSpPr>
        <p:spPr>
          <a:xfrm>
            <a:off x="6318249" y="5232400"/>
            <a:ext cx="247649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te-3-icon"/>
          <p:cNvSpPr/>
          <p:nvPr/>
        </p:nvSpPr>
        <p:spPr>
          <a:xfrm>
            <a:off x="6457949" y="539750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te-3-icon-text"/>
          <p:cNvSpPr txBox="1"/>
          <p:nvPr/>
        </p:nvSpPr>
        <p:spPr>
          <a:xfrm>
            <a:off x="6457949" y="539750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察</a:t>
            </a:r>
          </a:p>
        </p:txBody>
      </p:sp>
      <p:sp>
        <p:nvSpPr>
          <p:cNvPr id="23" name="route-3-title"/>
          <p:cNvSpPr txBox="1"/>
          <p:nvPr/>
        </p:nvSpPr>
        <p:spPr>
          <a:xfrm>
            <a:off x="7004049" y="5346700"/>
            <a:ext cx="167639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05236"/>
                </a:solidFill>
                <a:latin typeface="Microsoft YaHei"/>
              </a:rPr>
              <a:t>3  实地考察</a:t>
            </a:r>
          </a:p>
        </p:txBody>
      </p:sp>
      <p:sp>
        <p:nvSpPr>
          <p:cNvPr id="24" name="route-3-body"/>
          <p:cNvSpPr txBox="1"/>
          <p:nvPr/>
        </p:nvSpPr>
        <p:spPr>
          <a:xfrm>
            <a:off x="7004049" y="5588000"/>
            <a:ext cx="167639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2D3627"/>
                </a:solidFill>
                <a:latin typeface="Microsoft YaHei"/>
              </a:rPr>
              <a:t>• 观察真实场景中的健康需求</a:t>
            </a:r>
          </a:p>
        </p:txBody>
      </p:sp>
      <p:sp>
        <p:nvSpPr>
          <p:cNvPr id="25" name="route-4-card"/>
          <p:cNvSpPr/>
          <p:nvPr/>
        </p:nvSpPr>
        <p:spPr>
          <a:xfrm>
            <a:off x="9112249" y="5232400"/>
            <a:ext cx="247649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te-4-icon"/>
          <p:cNvSpPr/>
          <p:nvPr/>
        </p:nvSpPr>
        <p:spPr>
          <a:xfrm>
            <a:off x="9251949" y="539750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te-4-icon-text"/>
          <p:cNvSpPr txBox="1"/>
          <p:nvPr/>
        </p:nvSpPr>
        <p:spPr>
          <a:xfrm>
            <a:off x="9251949" y="539750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流</a:t>
            </a:r>
          </a:p>
        </p:txBody>
      </p:sp>
      <p:sp>
        <p:nvSpPr>
          <p:cNvPr id="28" name="route-4-title"/>
          <p:cNvSpPr txBox="1"/>
          <p:nvPr/>
        </p:nvSpPr>
        <p:spPr>
          <a:xfrm>
            <a:off x="9798049" y="5346700"/>
            <a:ext cx="167639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05236"/>
                </a:solidFill>
                <a:latin typeface="Microsoft YaHei"/>
              </a:rPr>
              <a:t>4  经验回流</a:t>
            </a:r>
          </a:p>
        </p:txBody>
      </p:sp>
      <p:sp>
        <p:nvSpPr>
          <p:cNvPr id="29" name="route-4-body"/>
          <p:cNvSpPr txBox="1"/>
          <p:nvPr/>
        </p:nvSpPr>
        <p:spPr>
          <a:xfrm>
            <a:off x="9798049" y="5588000"/>
            <a:ext cx="167639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2D3627"/>
                </a:solidFill>
                <a:latin typeface="Microsoft YaHei"/>
              </a:rPr>
              <a:t>• 以实践反馈优化后续科普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
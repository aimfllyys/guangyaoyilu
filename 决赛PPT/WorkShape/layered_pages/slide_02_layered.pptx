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02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op-title-backplate"/>
          <p:cNvSpPr/>
          <p:nvPr/>
        </p:nvSpPr>
        <p:spPr>
          <a:xfrm>
            <a:off x="1428749" y="139700"/>
            <a:ext cx="9143999" cy="635000"/>
          </a:xfrm>
          <a:prstGeom prst="round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tle"/>
          <p:cNvSpPr txBox="1"/>
          <p:nvPr/>
        </p:nvSpPr>
        <p:spPr>
          <a:xfrm>
            <a:off x="1587499" y="215900"/>
            <a:ext cx="8508999" cy="393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80" b="1">
                <a:solidFill>
                  <a:srgbClr val="105236"/>
                </a:solidFill>
                <a:latin typeface="KaiTi"/>
              </a:rPr>
              <a:t>趣味调研：青年愿意了解中药，但更需要体验式入口</a:t>
            </a:r>
          </a:p>
        </p:txBody>
      </p:sp>
      <p:sp>
        <p:nvSpPr>
          <p:cNvPr id="5" name="subtitle-line-left"/>
          <p:cNvSpPr/>
          <p:nvPr/>
        </p:nvSpPr>
        <p:spPr>
          <a:xfrm>
            <a:off x="1142999" y="869950"/>
            <a:ext cx="3397249" cy="19050"/>
          </a:xfrm>
          <a:prstGeom prst="rect">
            <a:avLst/>
          </a:prstGeom>
          <a:solidFill>
            <a:srgbClr val="C49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btitle-line-right"/>
          <p:cNvSpPr/>
          <p:nvPr/>
        </p:nvSpPr>
        <p:spPr>
          <a:xfrm>
            <a:off x="7651749" y="869950"/>
            <a:ext cx="3397249" cy="19050"/>
          </a:xfrm>
          <a:prstGeom prst="rect">
            <a:avLst/>
          </a:prstGeom>
          <a:solidFill>
            <a:srgbClr val="C49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ubtitle-backplate"/>
          <p:cNvSpPr/>
          <p:nvPr/>
        </p:nvSpPr>
        <p:spPr>
          <a:xfrm>
            <a:off x="4476749" y="704850"/>
            <a:ext cx="3238499" cy="330200"/>
          </a:xfrm>
          <a:prstGeom prst="round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btitle"/>
          <p:cNvSpPr txBox="1"/>
          <p:nvPr/>
        </p:nvSpPr>
        <p:spPr>
          <a:xfrm>
            <a:off x="4571999" y="730250"/>
            <a:ext cx="3047999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20" b="0">
                <a:solidFill>
                  <a:srgbClr val="2D3627"/>
                </a:solidFill>
                <a:latin typeface="Microsoft YaHei"/>
              </a:rPr>
              <a:t>问卷截图与结果图均来自项目材料</a:t>
            </a:r>
          </a:p>
        </p:txBody>
      </p:sp>
      <p:sp>
        <p:nvSpPr>
          <p:cNvPr id="9" name="survey-panel-frame"/>
          <p:cNvSpPr/>
          <p:nvPr/>
        </p:nvSpPr>
        <p:spPr>
          <a:xfrm>
            <a:off x="126999" y="1155700"/>
            <a:ext cx="5892799" cy="37020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C49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urvey-screenshots-layer" descr="slide_02_survey_screenshots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" y="1181100"/>
            <a:ext cx="5841999" cy="3651250"/>
          </a:xfrm>
          <a:prstGeom prst="rect">
            <a:avLst/>
          </a:prstGeom>
        </p:spPr>
      </p:pic>
      <p:sp>
        <p:nvSpPr>
          <p:cNvPr id="11" name="results-panel-frame"/>
          <p:cNvSpPr/>
          <p:nvPr/>
        </p:nvSpPr>
        <p:spPr>
          <a:xfrm>
            <a:off x="6089649" y="1111250"/>
            <a:ext cx="5702299" cy="368300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C49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results-charts-layer" descr="slide_02_results_charts_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49" y="1136650"/>
            <a:ext cx="5651499" cy="3632200"/>
          </a:xfrm>
          <a:prstGeom prst="rect">
            <a:avLst/>
          </a:prstGeom>
        </p:spPr>
      </p:pic>
      <p:sp>
        <p:nvSpPr>
          <p:cNvPr id="13" name="sample-card"/>
          <p:cNvSpPr/>
          <p:nvPr/>
        </p:nvSpPr>
        <p:spPr>
          <a:xfrm>
            <a:off x="190499" y="5016500"/>
            <a:ext cx="3479799" cy="95250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ample-icon-circle"/>
          <p:cNvSpPr/>
          <p:nvPr/>
        </p:nvSpPr>
        <p:spPr>
          <a:xfrm>
            <a:off x="304799" y="5232400"/>
            <a:ext cx="419099" cy="4191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2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ample-icon-text"/>
          <p:cNvSpPr txBox="1"/>
          <p:nvPr/>
        </p:nvSpPr>
        <p:spPr>
          <a:xfrm>
            <a:off x="304799" y="5232400"/>
            <a:ext cx="4190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2DC96"/>
                </a:solidFill>
                <a:latin typeface="Microsoft YaHei"/>
              </a:rPr>
              <a:t>样</a:t>
            </a:r>
          </a:p>
        </p:txBody>
      </p:sp>
      <p:sp>
        <p:nvSpPr>
          <p:cNvPr id="16" name="sample-label"/>
          <p:cNvSpPr/>
          <p:nvPr/>
        </p:nvSpPr>
        <p:spPr>
          <a:xfrm>
            <a:off x="965199" y="4953000"/>
            <a:ext cx="1015999" cy="2413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2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ample-label-text"/>
          <p:cNvSpPr txBox="1"/>
          <p:nvPr/>
        </p:nvSpPr>
        <p:spPr>
          <a:xfrm>
            <a:off x="965199" y="4965700"/>
            <a:ext cx="101599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20" b="1">
                <a:solidFill>
                  <a:srgbClr val="FFFCF1"/>
                </a:solidFill>
                <a:latin typeface="Microsoft YaHei"/>
              </a:rPr>
              <a:t>青年样本</a:t>
            </a:r>
          </a:p>
        </p:txBody>
      </p:sp>
      <p:sp>
        <p:nvSpPr>
          <p:cNvPr id="18" name="sample-bullets"/>
          <p:cNvSpPr txBox="1"/>
          <p:nvPr/>
        </p:nvSpPr>
        <p:spPr>
          <a:xfrm>
            <a:off x="850899" y="5232400"/>
            <a:ext cx="1879599" cy="603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18–25岁青年为主力样本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多数对中医药持积极态度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认知基础有待提升</a:t>
            </a:r>
          </a:p>
        </p:txBody>
      </p:sp>
      <p:pic>
        <p:nvPicPr>
          <p:cNvPr id="19" name="sample-photo" descr="slide_02_card_photo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499" y="5257800"/>
            <a:ext cx="761999" cy="520700"/>
          </a:xfrm>
          <a:prstGeom prst="rect">
            <a:avLst/>
          </a:prstGeom>
        </p:spPr>
      </p:pic>
      <p:sp>
        <p:nvSpPr>
          <p:cNvPr id="20" name="pain-card"/>
          <p:cNvSpPr/>
          <p:nvPr/>
        </p:nvSpPr>
        <p:spPr>
          <a:xfrm>
            <a:off x="3873499" y="5016500"/>
            <a:ext cx="3206749" cy="95250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in-icon-circle"/>
          <p:cNvSpPr/>
          <p:nvPr/>
        </p:nvSpPr>
        <p:spPr>
          <a:xfrm>
            <a:off x="3987799" y="5232400"/>
            <a:ext cx="419099" cy="4191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2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in-icon-text"/>
          <p:cNvSpPr txBox="1"/>
          <p:nvPr/>
        </p:nvSpPr>
        <p:spPr>
          <a:xfrm>
            <a:off x="3987799" y="5232400"/>
            <a:ext cx="4190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2DC96"/>
                </a:solidFill>
                <a:latin typeface="Microsoft YaHei"/>
              </a:rPr>
              <a:t>痛</a:t>
            </a:r>
          </a:p>
        </p:txBody>
      </p:sp>
      <p:sp>
        <p:nvSpPr>
          <p:cNvPr id="23" name="pain-label"/>
          <p:cNvSpPr/>
          <p:nvPr/>
        </p:nvSpPr>
        <p:spPr>
          <a:xfrm>
            <a:off x="4648199" y="4953000"/>
            <a:ext cx="1015999" cy="2413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2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in-label-text"/>
          <p:cNvSpPr txBox="1"/>
          <p:nvPr/>
        </p:nvSpPr>
        <p:spPr>
          <a:xfrm>
            <a:off x="4648199" y="4965700"/>
            <a:ext cx="101599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20" b="1">
                <a:solidFill>
                  <a:srgbClr val="FFFCF1"/>
                </a:solidFill>
                <a:latin typeface="Microsoft YaHei"/>
              </a:rPr>
              <a:t>认知痛点</a:t>
            </a:r>
          </a:p>
        </p:txBody>
      </p:sp>
      <p:sp>
        <p:nvSpPr>
          <p:cNvPr id="25" name="pain-bullets"/>
          <p:cNvSpPr txBox="1"/>
          <p:nvPr/>
        </p:nvSpPr>
        <p:spPr>
          <a:xfrm>
            <a:off x="4533899" y="5232400"/>
            <a:ext cx="1606549" cy="603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概念混淆，专业门槛高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辨识困难，实物接触少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缺乏有趣、可参与的体验</a:t>
            </a:r>
          </a:p>
        </p:txBody>
      </p:sp>
      <p:pic>
        <p:nvPicPr>
          <p:cNvPr id="26" name="pain-photo" descr="slide_02_card_photo_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0449" y="5257800"/>
            <a:ext cx="761999" cy="520700"/>
          </a:xfrm>
          <a:prstGeom prst="rect">
            <a:avLst/>
          </a:prstGeom>
        </p:spPr>
      </p:pic>
      <p:sp>
        <p:nvSpPr>
          <p:cNvPr id="27" name="activity-card"/>
          <p:cNvSpPr/>
          <p:nvPr/>
        </p:nvSpPr>
        <p:spPr>
          <a:xfrm>
            <a:off x="7238999" y="5016500"/>
            <a:ext cx="3206749" cy="95250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DAC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ctivity-icon-circle"/>
          <p:cNvSpPr/>
          <p:nvPr/>
        </p:nvSpPr>
        <p:spPr>
          <a:xfrm>
            <a:off x="7353299" y="5232400"/>
            <a:ext cx="419099" cy="419100"/>
          </a:xfrm>
          <a:prstGeom prst="ellipse">
            <a:avLst/>
          </a:prstGeom>
          <a:solidFill>
            <a:srgbClr val="105236"/>
          </a:solidFill>
          <a:ln w="17780">
            <a:solidFill>
              <a:srgbClr val="F2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ctivity-icon-text"/>
          <p:cNvSpPr txBox="1"/>
          <p:nvPr/>
        </p:nvSpPr>
        <p:spPr>
          <a:xfrm>
            <a:off x="7353299" y="5232400"/>
            <a:ext cx="4190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2DC96"/>
                </a:solidFill>
                <a:latin typeface="Microsoft YaHei"/>
              </a:rPr>
              <a:t>启</a:t>
            </a:r>
          </a:p>
        </p:txBody>
      </p:sp>
      <p:sp>
        <p:nvSpPr>
          <p:cNvPr id="30" name="activity-label"/>
          <p:cNvSpPr/>
          <p:nvPr/>
        </p:nvSpPr>
        <p:spPr>
          <a:xfrm>
            <a:off x="8013699" y="4953000"/>
            <a:ext cx="1015999" cy="2413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2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ctivity-label-text"/>
          <p:cNvSpPr txBox="1"/>
          <p:nvPr/>
        </p:nvSpPr>
        <p:spPr>
          <a:xfrm>
            <a:off x="8013699" y="4965700"/>
            <a:ext cx="101599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20" b="1">
                <a:solidFill>
                  <a:srgbClr val="FFFCF1"/>
                </a:solidFill>
                <a:latin typeface="Microsoft YaHei"/>
              </a:rPr>
              <a:t>活动启发</a:t>
            </a:r>
          </a:p>
        </p:txBody>
      </p:sp>
      <p:sp>
        <p:nvSpPr>
          <p:cNvPr id="32" name="activity-bullets"/>
          <p:cNvSpPr txBox="1"/>
          <p:nvPr/>
        </p:nvSpPr>
        <p:spPr>
          <a:xfrm>
            <a:off x="7899399" y="5232400"/>
            <a:ext cx="1606549" cy="603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以体验破解认知壁垒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以互动提升参与热情</a:t>
            </a:r>
          </a:p>
          <a:p>
            <a:pPr algn="l"/>
            <a:r>
              <a:rPr sz="880" b="0">
                <a:solidFill>
                  <a:srgbClr val="2D3627"/>
                </a:solidFill>
                <a:latin typeface="Microsoft YaHei"/>
              </a:rPr>
              <a:t>• 以传播扩大文化影响</a:t>
            </a:r>
          </a:p>
        </p:txBody>
      </p:sp>
      <p:pic>
        <p:nvPicPr>
          <p:cNvPr id="33" name="activity-photo" descr="slide_02_card_photo_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949" y="5257800"/>
            <a:ext cx="761999" cy="520700"/>
          </a:xfrm>
          <a:prstGeom prst="rect">
            <a:avLst/>
          </a:prstGeom>
        </p:spPr>
      </p:pic>
      <p:sp>
        <p:nvSpPr>
          <p:cNvPr id="34" name="conclusion-strip"/>
          <p:cNvSpPr/>
          <p:nvPr/>
        </p:nvSpPr>
        <p:spPr>
          <a:xfrm>
            <a:off x="571499" y="6159500"/>
            <a:ext cx="11048999" cy="482600"/>
          </a:xfrm>
          <a:prstGeom prst="roundRect">
            <a:avLst/>
          </a:prstGeom>
          <a:solidFill>
            <a:srgbClr val="105236"/>
          </a:solidFill>
          <a:ln w="20320">
            <a:solidFill>
              <a:srgbClr val="F2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nclusion-cloud-left"/>
          <p:cNvSpPr/>
          <p:nvPr/>
        </p:nvSpPr>
        <p:spPr>
          <a:xfrm>
            <a:off x="800099" y="6273800"/>
            <a:ext cx="368299" cy="266700"/>
          </a:xfrm>
          <a:prstGeom prst="cloud">
            <a:avLst/>
          </a:prstGeom>
          <a:solidFill>
            <a:srgbClr val="F2DC96"/>
          </a:solidFill>
          <a:ln w="10160">
            <a:solidFill>
              <a:srgbClr val="C49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nclusion-cloud-right"/>
          <p:cNvSpPr/>
          <p:nvPr/>
        </p:nvSpPr>
        <p:spPr>
          <a:xfrm>
            <a:off x="11048999" y="6273800"/>
            <a:ext cx="368299" cy="266700"/>
          </a:xfrm>
          <a:prstGeom prst="cloud">
            <a:avLst/>
          </a:prstGeom>
          <a:solidFill>
            <a:srgbClr val="F2DC96"/>
          </a:solidFill>
          <a:ln w="10160">
            <a:solidFill>
              <a:srgbClr val="C49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nclusion-text"/>
          <p:cNvSpPr txBox="1"/>
          <p:nvPr/>
        </p:nvSpPr>
        <p:spPr>
          <a:xfrm>
            <a:off x="1206499" y="6210300"/>
            <a:ext cx="9778999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50" b="1">
                <a:solidFill>
                  <a:srgbClr val="F2DC96"/>
                </a:solidFill>
                <a:latin typeface="Microsoft YaHei"/>
              </a:rPr>
              <a:t>调研结论直接指向活动设计：用可参与、可体验、可传播的方式讲好本草文化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
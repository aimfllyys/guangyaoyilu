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base-image2-muted" descr="slide_09_background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itle-backplate"/>
          <p:cNvSpPr/>
          <p:nvPr/>
        </p:nvSpPr>
        <p:spPr>
          <a:xfrm>
            <a:off x="1523999" y="127000"/>
            <a:ext cx="9143999" cy="647700"/>
          </a:xfrm>
          <a:prstGeom prst="roundRect">
            <a:avLst/>
          </a:prstGeom>
          <a:solidFill>
            <a:srgbClr val="FFF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-title"/>
          <p:cNvSpPr txBox="1"/>
          <p:nvPr/>
        </p:nvSpPr>
        <p:spPr>
          <a:xfrm>
            <a:off x="1714499" y="215900"/>
            <a:ext cx="8762999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50" b="1">
                <a:solidFill>
                  <a:srgbClr val="105236"/>
                </a:solidFill>
                <a:latin typeface="KaiTi"/>
              </a:rPr>
              <a:t>社区志愿服务：用实际行动回应基层需求</a:t>
            </a:r>
          </a:p>
        </p:txBody>
      </p:sp>
      <p:sp>
        <p:nvSpPr>
          <p:cNvPr id="5" name="service-photo-title-shape"/>
          <p:cNvSpPr/>
          <p:nvPr/>
        </p:nvSpPr>
        <p:spPr>
          <a:xfrm>
            <a:off x="4190999" y="838200"/>
            <a:ext cx="3809999" cy="3302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ervice-photo-title-text"/>
          <p:cNvSpPr txBox="1"/>
          <p:nvPr/>
        </p:nvSpPr>
        <p:spPr>
          <a:xfrm>
            <a:off x="4216399" y="850900"/>
            <a:ext cx="3759199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FFFCF1"/>
                </a:solidFill>
                <a:latin typeface="Microsoft YaHei"/>
              </a:rPr>
              <a:t>真实社区服务照片墙，强调团学践行</a:t>
            </a:r>
          </a:p>
        </p:txBody>
      </p:sp>
      <p:pic>
        <p:nvPicPr>
          <p:cNvPr id="7" name="service-photo-wall" descr="slide_09_service_photo_w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9" y="1301750"/>
            <a:ext cx="11779249" cy="3175000"/>
          </a:xfrm>
          <a:prstGeom prst="rect">
            <a:avLst/>
          </a:prstGeom>
        </p:spPr>
      </p:pic>
      <p:sp>
        <p:nvSpPr>
          <p:cNvPr id="8" name="clean-card"/>
          <p:cNvSpPr/>
          <p:nvPr/>
        </p:nvSpPr>
        <p:spPr>
          <a:xfrm>
            <a:off x="888999" y="4603750"/>
            <a:ext cx="2381249" cy="92075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DA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ean-icon"/>
          <p:cNvSpPr/>
          <p:nvPr/>
        </p:nvSpPr>
        <p:spPr>
          <a:xfrm>
            <a:off x="1028699" y="4768850"/>
            <a:ext cx="431799" cy="4318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ean-icon-text"/>
          <p:cNvSpPr txBox="1"/>
          <p:nvPr/>
        </p:nvSpPr>
        <p:spPr>
          <a:xfrm>
            <a:off x="1028699" y="4768850"/>
            <a:ext cx="43179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清</a:t>
            </a:r>
          </a:p>
        </p:txBody>
      </p:sp>
      <p:sp>
        <p:nvSpPr>
          <p:cNvPr id="11" name="clean-title"/>
          <p:cNvSpPr txBox="1"/>
          <p:nvPr/>
        </p:nvSpPr>
        <p:spPr>
          <a:xfrm>
            <a:off x="1574799" y="4718050"/>
            <a:ext cx="158114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05236"/>
                </a:solidFill>
                <a:latin typeface="Microsoft YaHei"/>
              </a:rPr>
              <a:t>清除牛皮癣</a:t>
            </a:r>
          </a:p>
        </p:txBody>
      </p:sp>
      <p:sp>
        <p:nvSpPr>
          <p:cNvPr id="12" name="clean-body"/>
          <p:cNvSpPr txBox="1"/>
          <p:nvPr/>
        </p:nvSpPr>
        <p:spPr>
          <a:xfrm>
            <a:off x="1574799" y="4959350"/>
            <a:ext cx="1581149" cy="501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清理墙面、门窗、电线杆等小广告</a:t>
            </a:r>
          </a:p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营造整洁社区环境</a:t>
            </a:r>
          </a:p>
        </p:txBody>
      </p:sp>
      <p:sp>
        <p:nvSpPr>
          <p:cNvPr id="13" name="env-card"/>
          <p:cNvSpPr/>
          <p:nvPr/>
        </p:nvSpPr>
        <p:spPr>
          <a:xfrm>
            <a:off x="3651249" y="4603750"/>
            <a:ext cx="2381249" cy="92075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DA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nv-icon"/>
          <p:cNvSpPr/>
          <p:nvPr/>
        </p:nvSpPr>
        <p:spPr>
          <a:xfrm>
            <a:off x="3790949" y="4768850"/>
            <a:ext cx="431799" cy="4318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nv-icon-text"/>
          <p:cNvSpPr txBox="1"/>
          <p:nvPr/>
        </p:nvSpPr>
        <p:spPr>
          <a:xfrm>
            <a:off x="3790949" y="4768850"/>
            <a:ext cx="43179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扫</a:t>
            </a:r>
          </a:p>
        </p:txBody>
      </p:sp>
      <p:sp>
        <p:nvSpPr>
          <p:cNvPr id="16" name="env-title"/>
          <p:cNvSpPr txBox="1"/>
          <p:nvPr/>
        </p:nvSpPr>
        <p:spPr>
          <a:xfrm>
            <a:off x="4337049" y="4718050"/>
            <a:ext cx="158114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05236"/>
                </a:solidFill>
                <a:latin typeface="Microsoft YaHei"/>
              </a:rPr>
              <a:t>环境整理</a:t>
            </a:r>
          </a:p>
        </p:txBody>
      </p:sp>
      <p:sp>
        <p:nvSpPr>
          <p:cNvPr id="17" name="env-body"/>
          <p:cNvSpPr txBox="1"/>
          <p:nvPr/>
        </p:nvSpPr>
        <p:spPr>
          <a:xfrm>
            <a:off x="4337049" y="4959350"/>
            <a:ext cx="1581149" cy="501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清扫道路、绿化带，清理卫生死角</a:t>
            </a:r>
          </a:p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提升居住环境</a:t>
            </a:r>
          </a:p>
        </p:txBody>
      </p:sp>
      <p:sp>
        <p:nvSpPr>
          <p:cNvPr id="18" name="civil-card"/>
          <p:cNvSpPr/>
          <p:nvPr/>
        </p:nvSpPr>
        <p:spPr>
          <a:xfrm>
            <a:off x="6413499" y="4603750"/>
            <a:ext cx="2381249" cy="92075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DA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ivil-icon"/>
          <p:cNvSpPr/>
          <p:nvPr/>
        </p:nvSpPr>
        <p:spPr>
          <a:xfrm>
            <a:off x="6553199" y="4768850"/>
            <a:ext cx="431799" cy="4318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ivil-icon-text"/>
          <p:cNvSpPr txBox="1"/>
          <p:nvPr/>
        </p:nvSpPr>
        <p:spPr>
          <a:xfrm>
            <a:off x="6553199" y="4768850"/>
            <a:ext cx="43179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宣</a:t>
            </a:r>
          </a:p>
        </p:txBody>
      </p:sp>
      <p:sp>
        <p:nvSpPr>
          <p:cNvPr id="21" name="civil-title"/>
          <p:cNvSpPr txBox="1"/>
          <p:nvPr/>
        </p:nvSpPr>
        <p:spPr>
          <a:xfrm>
            <a:off x="7099299" y="4718050"/>
            <a:ext cx="158114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05236"/>
                </a:solidFill>
                <a:latin typeface="Microsoft YaHei"/>
              </a:rPr>
              <a:t>文明宣传</a:t>
            </a:r>
          </a:p>
        </p:txBody>
      </p:sp>
      <p:sp>
        <p:nvSpPr>
          <p:cNvPr id="22" name="civil-body"/>
          <p:cNvSpPr txBox="1"/>
          <p:nvPr/>
        </p:nvSpPr>
        <p:spPr>
          <a:xfrm>
            <a:off x="7099299" y="4959350"/>
            <a:ext cx="1581149" cy="501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发放宣传资料，讲解文明知识</a:t>
            </a:r>
          </a:p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倡导垃圾分类与文明新风</a:t>
            </a:r>
          </a:p>
        </p:txBody>
      </p:sp>
      <p:sp>
        <p:nvSpPr>
          <p:cNvPr id="23" name="feedback-card"/>
          <p:cNvSpPr/>
          <p:nvPr/>
        </p:nvSpPr>
        <p:spPr>
          <a:xfrm>
            <a:off x="9175749" y="4603750"/>
            <a:ext cx="2381249" cy="92075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DA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eedback-icon"/>
          <p:cNvSpPr/>
          <p:nvPr/>
        </p:nvSpPr>
        <p:spPr>
          <a:xfrm>
            <a:off x="9315449" y="4768850"/>
            <a:ext cx="431799" cy="4318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eedback-icon-text"/>
          <p:cNvSpPr txBox="1"/>
          <p:nvPr/>
        </p:nvSpPr>
        <p:spPr>
          <a:xfrm>
            <a:off x="9315449" y="4768850"/>
            <a:ext cx="43179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馈</a:t>
            </a:r>
          </a:p>
        </p:txBody>
      </p:sp>
      <p:sp>
        <p:nvSpPr>
          <p:cNvPr id="26" name="feedback-title"/>
          <p:cNvSpPr txBox="1"/>
          <p:nvPr/>
        </p:nvSpPr>
        <p:spPr>
          <a:xfrm>
            <a:off x="9861549" y="4718050"/>
            <a:ext cx="158114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05236"/>
                </a:solidFill>
                <a:latin typeface="Microsoft YaHei"/>
              </a:rPr>
              <a:t>服务反馈</a:t>
            </a:r>
          </a:p>
        </p:txBody>
      </p:sp>
      <p:sp>
        <p:nvSpPr>
          <p:cNvPr id="27" name="feedback-body"/>
          <p:cNvSpPr txBox="1"/>
          <p:nvPr/>
        </p:nvSpPr>
        <p:spPr>
          <a:xfrm>
            <a:off x="9861549" y="4959350"/>
            <a:ext cx="1581149" cy="501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倾听居民意见，记录需求建议</a:t>
            </a:r>
          </a:p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持续改进服务内容与方式</a:t>
            </a:r>
          </a:p>
        </p:txBody>
      </p:sp>
      <p:sp>
        <p:nvSpPr>
          <p:cNvPr id="28" name="conclusion-strip"/>
          <p:cNvSpPr/>
          <p:nvPr/>
        </p:nvSpPr>
        <p:spPr>
          <a:xfrm>
            <a:off x="2158999" y="5905500"/>
            <a:ext cx="7873999" cy="431800"/>
          </a:xfrm>
          <a:prstGeom prst="roundRect">
            <a:avLst/>
          </a:prstGeom>
          <a:solidFill>
            <a:srgbClr val="053A28"/>
          </a:solidFill>
          <a:ln w="1905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nclusion-text"/>
          <p:cNvSpPr txBox="1"/>
          <p:nvPr/>
        </p:nvSpPr>
        <p:spPr>
          <a:xfrm>
            <a:off x="2412999" y="5949950"/>
            <a:ext cx="7365999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从中医药科普走向社区服务，展现青年团支部的实践担当</a:t>
            </a:r>
          </a:p>
        </p:txBody>
      </p:sp>
      <p:sp>
        <p:nvSpPr>
          <p:cNvPr id="30" name="red-ribbon-note"/>
          <p:cNvSpPr/>
          <p:nvPr/>
        </p:nvSpPr>
        <p:spPr>
          <a:xfrm>
            <a:off x="10591799" y="127000"/>
            <a:ext cx="1333499" cy="558800"/>
          </a:xfrm>
          <a:prstGeom prst="roundRect">
            <a:avLst/>
          </a:prstGeom>
          <a:solidFill>
            <a:srgbClr val="95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d-ribbon-text"/>
          <p:cNvSpPr txBox="1"/>
          <p:nvPr/>
        </p:nvSpPr>
        <p:spPr>
          <a:xfrm>
            <a:off x="10699749" y="190500"/>
            <a:ext cx="111124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5DE96"/>
                </a:solidFill>
                <a:latin typeface="Microsoft YaHei"/>
              </a:rPr>
              <a:t>社区服务</a:t>
            </a:r>
          </a:p>
          <a:p>
            <a:pPr algn="ctr"/>
            <a:r>
              <a:rPr sz="1250" b="1">
                <a:solidFill>
                  <a:srgbClr val="F5DE96"/>
                </a:solidFill>
                <a:latin typeface="Microsoft YaHei"/>
              </a:rPr>
              <a:t>青春担当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
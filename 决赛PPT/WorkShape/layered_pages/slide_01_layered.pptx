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1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op-slogan-backplate"/>
          <p:cNvSpPr/>
          <p:nvPr/>
        </p:nvSpPr>
        <p:spPr>
          <a:xfrm>
            <a:off x="1041399" y="996950"/>
            <a:ext cx="10134599" cy="1003300"/>
          </a:xfrm>
          <a:prstGeom prst="roundRect">
            <a:avLst/>
          </a:prstGeom>
          <a:noFill/>
          <a:ln w="17780">
            <a:solidFill>
              <a:srgbClr val="D3A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op-slogan-shadow"/>
          <p:cNvSpPr txBox="1"/>
          <p:nvPr/>
        </p:nvSpPr>
        <p:spPr>
          <a:xfrm>
            <a:off x="1276349" y="1092200"/>
            <a:ext cx="9588499" cy="825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242016"/>
                </a:solidFill>
                <a:latin typeface="KaiTi"/>
              </a:rPr>
              <a:t>金光青黛同济兴，百草杏林华夏清</a:t>
            </a:r>
          </a:p>
        </p:txBody>
      </p:sp>
      <p:sp>
        <p:nvSpPr>
          <p:cNvPr id="5" name="top-slogan"/>
          <p:cNvSpPr txBox="1"/>
          <p:nvPr/>
        </p:nvSpPr>
        <p:spPr>
          <a:xfrm>
            <a:off x="1257299" y="1066800"/>
            <a:ext cx="9588499" cy="825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0C472E"/>
                </a:solidFill>
                <a:latin typeface="KaiTi"/>
              </a:rPr>
              <a:t>金光青黛同济兴，百草杏林华夏清</a:t>
            </a:r>
          </a:p>
        </p:txBody>
      </p:sp>
      <p:cxnSp>
        <p:nvCxnSpPr>
          <p:cNvPr id="6" name="divider-left"/>
          <p:cNvCxnSpPr/>
          <p:nvPr/>
        </p:nvCxnSpPr>
        <p:spPr>
          <a:xfrm>
            <a:off x="3238499" y="2476500"/>
            <a:ext cx="2317750" cy="0"/>
          </a:xfrm>
          <a:prstGeom prst="line">
            <a:avLst/>
          </a:prstGeom>
          <a:ln w="19050">
            <a:solidFill>
              <a:srgbClr val="D3A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ivider-right"/>
          <p:cNvCxnSpPr/>
          <p:nvPr/>
        </p:nvCxnSpPr>
        <p:spPr>
          <a:xfrm>
            <a:off x="6635749" y="2476500"/>
            <a:ext cx="2317750" cy="0"/>
          </a:xfrm>
          <a:prstGeom prst="line">
            <a:avLst/>
          </a:prstGeom>
          <a:ln w="19050">
            <a:solidFill>
              <a:srgbClr val="D3A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vider-center-diamond"/>
          <p:cNvSpPr/>
          <p:nvPr/>
        </p:nvSpPr>
        <p:spPr>
          <a:xfrm>
            <a:off x="5962649" y="2400300"/>
            <a:ext cx="215899" cy="152400"/>
          </a:xfrm>
          <a:prstGeom prst="diamond">
            <a:avLst/>
          </a:prstGeom>
          <a:solidFill>
            <a:srgbClr val="D3A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vider-dot-left"/>
          <p:cNvSpPr/>
          <p:nvPr/>
        </p:nvSpPr>
        <p:spPr>
          <a:xfrm>
            <a:off x="5734049" y="2425700"/>
            <a:ext cx="101599" cy="101600"/>
          </a:xfrm>
          <a:prstGeom prst="ellipse">
            <a:avLst/>
          </a:prstGeom>
          <a:solidFill>
            <a:srgbClr val="F6F2E1"/>
          </a:solidFill>
          <a:ln w="17780">
            <a:solidFill>
              <a:srgbClr val="D3A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vider-dot-right"/>
          <p:cNvSpPr/>
          <p:nvPr/>
        </p:nvSpPr>
        <p:spPr>
          <a:xfrm>
            <a:off x="6356349" y="2425700"/>
            <a:ext cx="101599" cy="101600"/>
          </a:xfrm>
          <a:prstGeom prst="ellipse">
            <a:avLst/>
          </a:prstGeom>
          <a:solidFill>
            <a:srgbClr val="F6F2E1"/>
          </a:solidFill>
          <a:ln w="17780">
            <a:solidFill>
              <a:srgbClr val="D3A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in-title-plaque-outer"/>
          <p:cNvSpPr/>
          <p:nvPr/>
        </p:nvSpPr>
        <p:spPr>
          <a:xfrm>
            <a:off x="3174999" y="2730500"/>
            <a:ext cx="5841999" cy="1244600"/>
          </a:xfrm>
          <a:prstGeom prst="roundRect">
            <a:avLst/>
          </a:prstGeom>
          <a:solidFill>
            <a:srgbClr val="BE9746"/>
          </a:solidFill>
          <a:ln w="21590">
            <a:solidFill>
              <a:srgbClr val="685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ain-title-plaque-inner"/>
          <p:cNvSpPr/>
          <p:nvPr/>
        </p:nvSpPr>
        <p:spPr>
          <a:xfrm>
            <a:off x="3276599" y="2832100"/>
            <a:ext cx="5638799" cy="1028700"/>
          </a:xfrm>
          <a:prstGeom prst="roundRect">
            <a:avLst/>
          </a:prstGeom>
          <a:solidFill>
            <a:srgbClr val="145B3C"/>
          </a:solidFill>
          <a:ln w="22860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-title-shadow"/>
          <p:cNvSpPr txBox="1"/>
          <p:nvPr/>
        </p:nvSpPr>
        <p:spPr>
          <a:xfrm>
            <a:off x="3321049" y="2768600"/>
            <a:ext cx="5587999" cy="1104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0" b="1">
                <a:solidFill>
                  <a:srgbClr val="242016"/>
                </a:solidFill>
                <a:latin typeface="KaiTi"/>
              </a:rPr>
              <a:t>光药医路</a:t>
            </a:r>
          </a:p>
        </p:txBody>
      </p:sp>
      <p:sp>
        <p:nvSpPr>
          <p:cNvPr id="14" name="slide-title"/>
          <p:cNvSpPr txBox="1"/>
          <p:nvPr/>
        </p:nvSpPr>
        <p:spPr>
          <a:xfrm>
            <a:off x="3301999" y="2743200"/>
            <a:ext cx="5587999" cy="1104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0" b="1">
                <a:solidFill>
                  <a:srgbClr val="F6DE8F"/>
                </a:solidFill>
                <a:latin typeface="KaiTi"/>
              </a:rPr>
              <a:t>光药医路</a:t>
            </a:r>
          </a:p>
        </p:txBody>
      </p:sp>
      <p:sp>
        <p:nvSpPr>
          <p:cNvPr id="15" name="team-strip"/>
          <p:cNvSpPr/>
          <p:nvPr/>
        </p:nvSpPr>
        <p:spPr>
          <a:xfrm>
            <a:off x="2508249" y="4476750"/>
            <a:ext cx="7207249" cy="495300"/>
          </a:xfrm>
          <a:prstGeom prst="roundRect">
            <a:avLst/>
          </a:prstGeom>
          <a:solidFill>
            <a:srgbClr val="145B3C"/>
          </a:solidFill>
          <a:ln w="21590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m-icon-circle"/>
          <p:cNvSpPr/>
          <p:nvPr/>
        </p:nvSpPr>
        <p:spPr>
          <a:xfrm>
            <a:off x="2654299" y="4381500"/>
            <a:ext cx="584199" cy="584200"/>
          </a:xfrm>
          <a:prstGeom prst="ellipse">
            <a:avLst/>
          </a:prstGeom>
          <a:solidFill>
            <a:srgbClr val="0C472E"/>
          </a:solidFill>
          <a:ln w="22860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m-icon-text"/>
          <p:cNvSpPr txBox="1"/>
          <p:nvPr/>
        </p:nvSpPr>
        <p:spPr>
          <a:xfrm>
            <a:off x="2654299" y="4381500"/>
            <a:ext cx="584199" cy="584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6DE8F"/>
                </a:solidFill>
                <a:latin typeface="Microsoft YaHei"/>
              </a:rPr>
              <a:t>药</a:t>
            </a:r>
          </a:p>
        </p:txBody>
      </p:sp>
      <p:sp>
        <p:nvSpPr>
          <p:cNvPr id="18" name="team-text"/>
          <p:cNvSpPr txBox="1"/>
          <p:nvPr/>
        </p:nvSpPr>
        <p:spPr>
          <a:xfrm>
            <a:off x="3333749" y="4495800"/>
            <a:ext cx="61594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BEB"/>
                </a:solidFill>
                <a:latin typeface="Microsoft YaHei"/>
              </a:rPr>
              <a:t>药学（中外）2503、光电2506、基础医学（强基）2501班团支部</a:t>
            </a:r>
          </a:p>
        </p:txBody>
      </p:sp>
      <p:sp>
        <p:nvSpPr>
          <p:cNvPr id="19" name="date-strip"/>
          <p:cNvSpPr/>
          <p:nvPr/>
        </p:nvSpPr>
        <p:spPr>
          <a:xfrm>
            <a:off x="4444999" y="5207000"/>
            <a:ext cx="3301999" cy="457200"/>
          </a:xfrm>
          <a:prstGeom prst="roundRect">
            <a:avLst/>
          </a:prstGeom>
          <a:solidFill>
            <a:srgbClr val="145B3C"/>
          </a:solidFill>
          <a:ln w="21590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te-icon-circle"/>
          <p:cNvSpPr/>
          <p:nvPr/>
        </p:nvSpPr>
        <p:spPr>
          <a:xfrm>
            <a:off x="4368799" y="5092700"/>
            <a:ext cx="596899" cy="596900"/>
          </a:xfrm>
          <a:prstGeom prst="ellipse">
            <a:avLst/>
          </a:prstGeom>
          <a:solidFill>
            <a:srgbClr val="0C472E"/>
          </a:solidFill>
          <a:ln w="22860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te-icon-text"/>
          <p:cNvSpPr txBox="1"/>
          <p:nvPr/>
        </p:nvSpPr>
        <p:spPr>
          <a:xfrm>
            <a:off x="4368799" y="5092700"/>
            <a:ext cx="596899" cy="596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6DE8F"/>
                </a:solidFill>
                <a:latin typeface="Microsoft YaHei"/>
              </a:rPr>
              <a:t>日</a:t>
            </a:r>
          </a:p>
        </p:txBody>
      </p:sp>
      <p:sp>
        <p:nvSpPr>
          <p:cNvPr id="22" name="date-text"/>
          <p:cNvSpPr txBox="1"/>
          <p:nvPr/>
        </p:nvSpPr>
        <p:spPr>
          <a:xfrm>
            <a:off x="5003799" y="5232400"/>
            <a:ext cx="2539999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BEB"/>
                </a:solidFill>
                <a:latin typeface="Microsoft YaHei"/>
              </a:rPr>
              <a:t>答辩时间：2026.5.24</a:t>
            </a:r>
          </a:p>
        </p:txBody>
      </p:sp>
      <p:sp>
        <p:nvSpPr>
          <p:cNvPr id="23" name="logo-placeholder-1-outer"/>
          <p:cNvSpPr/>
          <p:nvPr/>
        </p:nvSpPr>
        <p:spPr>
          <a:xfrm>
            <a:off x="9982199" y="215900"/>
            <a:ext cx="800099" cy="800100"/>
          </a:xfrm>
          <a:prstGeom prst="ellipse">
            <a:avLst/>
          </a:prstGeom>
          <a:solidFill>
            <a:srgbClr val="0C472E"/>
          </a:solidFill>
          <a:ln w="29209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ogo-placeholder-1-inner-line"/>
          <p:cNvSpPr/>
          <p:nvPr/>
        </p:nvSpPr>
        <p:spPr>
          <a:xfrm>
            <a:off x="10032999" y="266700"/>
            <a:ext cx="698499" cy="698500"/>
          </a:xfrm>
          <a:prstGeom prst="ellipse">
            <a:avLst/>
          </a:prstGeom>
          <a:solidFill>
            <a:srgbClr val="0C472E"/>
          </a:solidFill>
          <a:ln w="10160">
            <a:solidFill>
              <a:srgbClr val="1F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ogo-placeholder-1-text"/>
          <p:cNvSpPr txBox="1"/>
          <p:nvPr/>
        </p:nvSpPr>
        <p:spPr>
          <a:xfrm>
            <a:off x="10096499" y="349250"/>
            <a:ext cx="5714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BEB"/>
                </a:solidFill>
                <a:latin typeface="Microsoft YaHei"/>
              </a:rPr>
              <a:t>校徽</a:t>
            </a:r>
          </a:p>
          <a:p>
            <a:pPr algn="ctr"/>
            <a:r>
              <a:rPr sz="1500" b="1">
                <a:solidFill>
                  <a:srgbClr val="FFFBEB"/>
                </a:solidFill>
                <a:latin typeface="Microsoft YaHei"/>
              </a:rPr>
              <a:t>放置处</a:t>
            </a:r>
          </a:p>
        </p:txBody>
      </p:sp>
      <p:sp>
        <p:nvSpPr>
          <p:cNvPr id="26" name="logo-placeholder-2-outer"/>
          <p:cNvSpPr/>
          <p:nvPr/>
        </p:nvSpPr>
        <p:spPr>
          <a:xfrm>
            <a:off x="11023599" y="215900"/>
            <a:ext cx="800099" cy="800100"/>
          </a:xfrm>
          <a:prstGeom prst="ellipse">
            <a:avLst/>
          </a:prstGeom>
          <a:solidFill>
            <a:srgbClr val="0C472E"/>
          </a:solidFill>
          <a:ln w="29209">
            <a:solidFill>
              <a:srgbClr val="F6D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go-placeholder-2-inner-line"/>
          <p:cNvSpPr/>
          <p:nvPr/>
        </p:nvSpPr>
        <p:spPr>
          <a:xfrm>
            <a:off x="11074399" y="266700"/>
            <a:ext cx="698499" cy="698500"/>
          </a:xfrm>
          <a:prstGeom prst="ellipse">
            <a:avLst/>
          </a:prstGeom>
          <a:solidFill>
            <a:srgbClr val="0C472E"/>
          </a:solidFill>
          <a:ln w="10160">
            <a:solidFill>
              <a:srgbClr val="1F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go-placeholder-2-text"/>
          <p:cNvSpPr txBox="1"/>
          <p:nvPr/>
        </p:nvSpPr>
        <p:spPr>
          <a:xfrm>
            <a:off x="11137899" y="349250"/>
            <a:ext cx="5714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BEB"/>
                </a:solidFill>
                <a:latin typeface="Microsoft YaHei"/>
              </a:rPr>
              <a:t>校徽</a:t>
            </a:r>
          </a:p>
          <a:p>
            <a:pPr algn="ctr"/>
            <a:r>
              <a:rPr sz="1500" b="1">
                <a:solidFill>
                  <a:srgbClr val="FFFBEB"/>
                </a:solidFill>
                <a:latin typeface="Microsoft YaHei"/>
              </a:rPr>
              <a:t>放置处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
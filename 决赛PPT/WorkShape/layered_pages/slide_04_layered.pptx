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4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50" b="1">
                <a:solidFill>
                  <a:srgbClr val="105236"/>
                </a:solidFill>
                <a:latin typeface="KaiTi"/>
              </a:rPr>
              <a:t>三支部同行：75 名青年共建“光药医路”</a:t>
            </a:r>
          </a:p>
        </p:txBody>
      </p:sp>
      <p:sp>
        <p:nvSpPr>
          <p:cNvPr id="5" name="members-title-shape"/>
          <p:cNvSpPr/>
          <p:nvPr/>
        </p:nvSpPr>
        <p:spPr>
          <a:xfrm>
            <a:off x="1079499" y="1301750"/>
            <a:ext cx="1841499" cy="3048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mbers-title-text"/>
          <p:cNvSpPr txBox="1"/>
          <p:nvPr/>
        </p:nvSpPr>
        <p:spPr>
          <a:xfrm>
            <a:off x="1104899" y="1314450"/>
            <a:ext cx="17906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人员组成</a:t>
            </a:r>
          </a:p>
        </p:txBody>
      </p:sp>
      <p:sp>
        <p:nvSpPr>
          <p:cNvPr id="7" name="group-card-1"/>
          <p:cNvSpPr/>
          <p:nvPr/>
        </p:nvSpPr>
        <p:spPr>
          <a:xfrm>
            <a:off x="571499" y="1746250"/>
            <a:ext cx="2952749" cy="1047750"/>
          </a:xfrm>
          <a:prstGeom prst="roundRect">
            <a:avLst/>
          </a:prstGeom>
          <a:solidFill>
            <a:srgbClr val="FFFCF1"/>
          </a:solidFill>
          <a:ln w="1143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roup-icon-1"/>
          <p:cNvSpPr/>
          <p:nvPr/>
        </p:nvSpPr>
        <p:spPr>
          <a:xfrm>
            <a:off x="723899" y="1924050"/>
            <a:ext cx="698499" cy="698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-icon-text-1"/>
          <p:cNvSpPr txBox="1"/>
          <p:nvPr/>
        </p:nvSpPr>
        <p:spPr>
          <a:xfrm>
            <a:off x="723899" y="1924050"/>
            <a:ext cx="698499" cy="698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5DE96"/>
                </a:solidFill>
                <a:latin typeface="Microsoft YaHei"/>
              </a:rPr>
              <a:t>药</a:t>
            </a:r>
          </a:p>
        </p:txBody>
      </p:sp>
      <p:sp>
        <p:nvSpPr>
          <p:cNvPr id="10" name="group-text-1"/>
          <p:cNvSpPr txBox="1"/>
          <p:nvPr/>
        </p:nvSpPr>
        <p:spPr>
          <a:xfrm>
            <a:off x="1555749" y="1885950"/>
            <a:ext cx="1841499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D3627"/>
                </a:solidFill>
                <a:latin typeface="Microsoft YaHei"/>
              </a:rPr>
              <a:t>药学（中外）</a:t>
            </a:r>
          </a:p>
          <a:p>
            <a:pPr algn="l"/>
            <a:r>
              <a:rPr sz="1650" b="1">
                <a:solidFill>
                  <a:srgbClr val="2D3627"/>
                </a:solidFill>
                <a:latin typeface="Microsoft YaHei"/>
              </a:rPr>
              <a:t>2503</a:t>
            </a:r>
          </a:p>
        </p:txBody>
      </p:sp>
      <p:pic>
        <p:nvPicPr>
          <p:cNvPr id="11" name="group-photo-1" descr="slide_04_pharmacy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49" y="2317750"/>
            <a:ext cx="1841499" cy="368300"/>
          </a:xfrm>
          <a:prstGeom prst="rect">
            <a:avLst/>
          </a:prstGeom>
        </p:spPr>
      </p:pic>
      <p:sp>
        <p:nvSpPr>
          <p:cNvPr id="12" name="group-card-2"/>
          <p:cNvSpPr/>
          <p:nvPr/>
        </p:nvSpPr>
        <p:spPr>
          <a:xfrm>
            <a:off x="571499" y="2889250"/>
            <a:ext cx="2952749" cy="1047750"/>
          </a:xfrm>
          <a:prstGeom prst="roundRect">
            <a:avLst/>
          </a:prstGeom>
          <a:solidFill>
            <a:srgbClr val="FFFCF1"/>
          </a:solidFill>
          <a:ln w="1143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oup-icon-2"/>
          <p:cNvSpPr/>
          <p:nvPr/>
        </p:nvSpPr>
        <p:spPr>
          <a:xfrm>
            <a:off x="723899" y="3067050"/>
            <a:ext cx="698499" cy="698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roup-icon-text-2"/>
          <p:cNvSpPr txBox="1"/>
          <p:nvPr/>
        </p:nvSpPr>
        <p:spPr>
          <a:xfrm>
            <a:off x="723899" y="3067050"/>
            <a:ext cx="698499" cy="698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5DE96"/>
                </a:solidFill>
                <a:latin typeface="Microsoft YaHei"/>
              </a:rPr>
              <a:t>光</a:t>
            </a:r>
          </a:p>
        </p:txBody>
      </p:sp>
      <p:sp>
        <p:nvSpPr>
          <p:cNvPr id="15" name="group-text-2"/>
          <p:cNvSpPr txBox="1"/>
          <p:nvPr/>
        </p:nvSpPr>
        <p:spPr>
          <a:xfrm>
            <a:off x="1555749" y="3028950"/>
            <a:ext cx="1841499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D3627"/>
                </a:solidFill>
                <a:latin typeface="Microsoft YaHei"/>
              </a:rPr>
              <a:t>光电2506</a:t>
            </a:r>
          </a:p>
        </p:txBody>
      </p:sp>
      <p:pic>
        <p:nvPicPr>
          <p:cNvPr id="16" name="group-photo-2" descr="slide_04_opto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49" y="3460750"/>
            <a:ext cx="1841499" cy="368300"/>
          </a:xfrm>
          <a:prstGeom prst="rect">
            <a:avLst/>
          </a:prstGeom>
        </p:spPr>
      </p:pic>
      <p:sp>
        <p:nvSpPr>
          <p:cNvPr id="17" name="group-card-3"/>
          <p:cNvSpPr/>
          <p:nvPr/>
        </p:nvSpPr>
        <p:spPr>
          <a:xfrm>
            <a:off x="571499" y="4032250"/>
            <a:ext cx="2952749" cy="1047750"/>
          </a:xfrm>
          <a:prstGeom prst="roundRect">
            <a:avLst/>
          </a:prstGeom>
          <a:solidFill>
            <a:srgbClr val="FFFCF1"/>
          </a:solidFill>
          <a:ln w="1143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roup-icon-3"/>
          <p:cNvSpPr/>
          <p:nvPr/>
        </p:nvSpPr>
        <p:spPr>
          <a:xfrm>
            <a:off x="723899" y="4210050"/>
            <a:ext cx="698499" cy="698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oup-icon-text-3"/>
          <p:cNvSpPr txBox="1"/>
          <p:nvPr/>
        </p:nvSpPr>
        <p:spPr>
          <a:xfrm>
            <a:off x="723899" y="4210050"/>
            <a:ext cx="698499" cy="698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5DE96"/>
                </a:solidFill>
                <a:latin typeface="Microsoft YaHei"/>
              </a:rPr>
              <a:t>医</a:t>
            </a:r>
          </a:p>
        </p:txBody>
      </p:sp>
      <p:sp>
        <p:nvSpPr>
          <p:cNvPr id="20" name="group-text-3"/>
          <p:cNvSpPr txBox="1"/>
          <p:nvPr/>
        </p:nvSpPr>
        <p:spPr>
          <a:xfrm>
            <a:off x="1555749" y="4171950"/>
            <a:ext cx="1841499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2D3627"/>
                </a:solidFill>
                <a:latin typeface="Microsoft YaHei"/>
              </a:rPr>
              <a:t>基础医学（强基）</a:t>
            </a:r>
          </a:p>
          <a:p>
            <a:pPr algn="l"/>
            <a:r>
              <a:rPr sz="1650" b="1">
                <a:solidFill>
                  <a:srgbClr val="2D3627"/>
                </a:solidFill>
                <a:latin typeface="Microsoft YaHei"/>
              </a:rPr>
              <a:t>2501</a:t>
            </a:r>
          </a:p>
        </p:txBody>
      </p:sp>
      <p:pic>
        <p:nvPicPr>
          <p:cNvPr id="21" name="group-photo-3" descr="slide_04_medicine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749" y="4603750"/>
            <a:ext cx="1841499" cy="368300"/>
          </a:xfrm>
          <a:prstGeom prst="rect">
            <a:avLst/>
          </a:prstGeom>
        </p:spPr>
      </p:pic>
      <p:sp>
        <p:nvSpPr>
          <p:cNvPr id="22" name="youth-count-main"/>
          <p:cNvSpPr txBox="1"/>
          <p:nvPr/>
        </p:nvSpPr>
        <p:spPr>
          <a:xfrm>
            <a:off x="4127499" y="1301750"/>
            <a:ext cx="2666999" cy="952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0" b="1">
                <a:solidFill>
                  <a:srgbClr val="C69E50"/>
                </a:solidFill>
                <a:latin typeface="KaiTi"/>
              </a:rPr>
              <a:t>75</a:t>
            </a:r>
          </a:p>
        </p:txBody>
      </p:sp>
      <p:sp>
        <p:nvSpPr>
          <p:cNvPr id="23" name="youth-count-label"/>
          <p:cNvSpPr txBox="1"/>
          <p:nvPr/>
        </p:nvSpPr>
        <p:spPr>
          <a:xfrm>
            <a:off x="5968999" y="1587500"/>
            <a:ext cx="1460499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05236"/>
                </a:solidFill>
                <a:latin typeface="Microsoft YaHei"/>
              </a:rPr>
              <a:t>名青年</a:t>
            </a:r>
          </a:p>
        </p:txBody>
      </p:sp>
      <p:sp>
        <p:nvSpPr>
          <p:cNvPr id="24" name="name-origin-title-shape"/>
          <p:cNvSpPr/>
          <p:nvPr/>
        </p:nvSpPr>
        <p:spPr>
          <a:xfrm>
            <a:off x="4667249" y="3035300"/>
            <a:ext cx="1968499" cy="2921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me-origin-title-text"/>
          <p:cNvSpPr txBox="1"/>
          <p:nvPr/>
        </p:nvSpPr>
        <p:spPr>
          <a:xfrm>
            <a:off x="4692649" y="3048000"/>
            <a:ext cx="191769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CF1"/>
                </a:solidFill>
                <a:latin typeface="Microsoft YaHei"/>
              </a:rPr>
              <a:t>名称由来</a:t>
            </a:r>
          </a:p>
        </p:txBody>
      </p:sp>
      <p:sp>
        <p:nvSpPr>
          <p:cNvPr id="26" name="origin-icon-0"/>
          <p:cNvSpPr/>
          <p:nvPr/>
        </p:nvSpPr>
        <p:spPr>
          <a:xfrm>
            <a:off x="4222749" y="3651250"/>
            <a:ext cx="444499" cy="444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rigin-icon-text-0"/>
          <p:cNvSpPr txBox="1"/>
          <p:nvPr/>
        </p:nvSpPr>
        <p:spPr>
          <a:xfrm>
            <a:off x="4222749" y="3651250"/>
            <a:ext cx="4444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5DE96"/>
                </a:solidFill>
                <a:latin typeface="Microsoft YaHei"/>
              </a:rPr>
              <a:t>光</a:t>
            </a:r>
          </a:p>
        </p:txBody>
      </p:sp>
      <p:sp>
        <p:nvSpPr>
          <p:cNvPr id="28" name="origin-text-0"/>
          <p:cNvSpPr txBox="1"/>
          <p:nvPr/>
        </p:nvSpPr>
        <p:spPr>
          <a:xfrm>
            <a:off x="4000499" y="4222750"/>
            <a:ext cx="88899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0" b="0">
                <a:solidFill>
                  <a:srgbClr val="2D3627"/>
                </a:solidFill>
                <a:latin typeface="Microsoft YaHei"/>
              </a:rPr>
              <a:t>光电取“光”</a:t>
            </a:r>
          </a:p>
        </p:txBody>
      </p:sp>
      <p:sp>
        <p:nvSpPr>
          <p:cNvPr id="29" name="origin-icon-1"/>
          <p:cNvSpPr/>
          <p:nvPr/>
        </p:nvSpPr>
        <p:spPr>
          <a:xfrm>
            <a:off x="5429249" y="3651250"/>
            <a:ext cx="444499" cy="444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rigin-icon-text-1"/>
          <p:cNvSpPr txBox="1"/>
          <p:nvPr/>
        </p:nvSpPr>
        <p:spPr>
          <a:xfrm>
            <a:off x="5429249" y="3651250"/>
            <a:ext cx="4444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5DE96"/>
                </a:solidFill>
                <a:latin typeface="Microsoft YaHei"/>
              </a:rPr>
              <a:t>药</a:t>
            </a:r>
          </a:p>
        </p:txBody>
      </p:sp>
      <p:sp>
        <p:nvSpPr>
          <p:cNvPr id="31" name="origin-text-1"/>
          <p:cNvSpPr txBox="1"/>
          <p:nvPr/>
        </p:nvSpPr>
        <p:spPr>
          <a:xfrm>
            <a:off x="5206999" y="4222750"/>
            <a:ext cx="88899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0" b="0">
                <a:solidFill>
                  <a:srgbClr val="2D3627"/>
                </a:solidFill>
                <a:latin typeface="Microsoft YaHei"/>
              </a:rPr>
              <a:t>药学取“药”</a:t>
            </a:r>
          </a:p>
        </p:txBody>
      </p:sp>
      <p:sp>
        <p:nvSpPr>
          <p:cNvPr id="32" name="origin-icon-2"/>
          <p:cNvSpPr/>
          <p:nvPr/>
        </p:nvSpPr>
        <p:spPr>
          <a:xfrm>
            <a:off x="6635749" y="3651250"/>
            <a:ext cx="444499" cy="4445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rigin-icon-text-2"/>
          <p:cNvSpPr txBox="1"/>
          <p:nvPr/>
        </p:nvSpPr>
        <p:spPr>
          <a:xfrm>
            <a:off x="6635749" y="3651250"/>
            <a:ext cx="4444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5DE96"/>
                </a:solidFill>
                <a:latin typeface="Microsoft YaHei"/>
              </a:rPr>
              <a:t>医</a:t>
            </a:r>
          </a:p>
        </p:txBody>
      </p:sp>
      <p:sp>
        <p:nvSpPr>
          <p:cNvPr id="34" name="origin-text-2"/>
          <p:cNvSpPr txBox="1"/>
          <p:nvPr/>
        </p:nvSpPr>
        <p:spPr>
          <a:xfrm>
            <a:off x="6413499" y="4222750"/>
            <a:ext cx="88899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80" b="0">
                <a:solidFill>
                  <a:srgbClr val="2D3627"/>
                </a:solidFill>
                <a:latin typeface="Microsoft YaHei"/>
              </a:rPr>
              <a:t>基医取“医”</a:t>
            </a:r>
          </a:p>
        </p:txBody>
      </p:sp>
      <p:sp>
        <p:nvSpPr>
          <p:cNvPr id="35" name="origin-result-shape"/>
          <p:cNvSpPr/>
          <p:nvPr/>
        </p:nvSpPr>
        <p:spPr>
          <a:xfrm>
            <a:off x="4190999" y="4940300"/>
            <a:ext cx="2984499" cy="520700"/>
          </a:xfrm>
          <a:prstGeom prst="roundRect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rigin-result-text"/>
          <p:cNvSpPr txBox="1"/>
          <p:nvPr/>
        </p:nvSpPr>
        <p:spPr>
          <a:xfrm>
            <a:off x="4190999" y="4965700"/>
            <a:ext cx="2984499" cy="469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5DE96"/>
                </a:solidFill>
                <a:latin typeface="KaiTi"/>
              </a:rPr>
              <a:t>光药医路</a:t>
            </a:r>
          </a:p>
        </p:txBody>
      </p:sp>
      <p:sp>
        <p:nvSpPr>
          <p:cNvPr id="37" name="visual-title-shape"/>
          <p:cNvSpPr/>
          <p:nvPr/>
        </p:nvSpPr>
        <p:spPr>
          <a:xfrm>
            <a:off x="8381999" y="1301750"/>
            <a:ext cx="1968499" cy="3048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sual-title-text"/>
          <p:cNvSpPr txBox="1"/>
          <p:nvPr/>
        </p:nvSpPr>
        <p:spPr>
          <a:xfrm>
            <a:off x="8407399" y="1314450"/>
            <a:ext cx="19176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CF1"/>
                </a:solidFill>
                <a:latin typeface="Microsoft YaHei"/>
              </a:rPr>
              <a:t>文宣视觉</a:t>
            </a:r>
          </a:p>
        </p:txBody>
      </p:sp>
      <p:sp>
        <p:nvSpPr>
          <p:cNvPr id="39" name="visual-subtitle"/>
          <p:cNvSpPr txBox="1"/>
          <p:nvPr/>
        </p:nvSpPr>
        <p:spPr>
          <a:xfrm>
            <a:off x="8178799" y="1619250"/>
            <a:ext cx="2698749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D3627"/>
                </a:solidFill>
                <a:latin typeface="Microsoft YaHei"/>
              </a:rPr>
              <a:t>真实海报 · Logo · 瑶光助手</a:t>
            </a:r>
          </a:p>
        </p:txBody>
      </p:sp>
      <p:pic>
        <p:nvPicPr>
          <p:cNvPr id="40" name="visual-assets-layer" descr="slide_04_visual_assets_lay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299" y="1651000"/>
            <a:ext cx="3936999" cy="4445000"/>
          </a:xfrm>
          <a:prstGeom prst="rect">
            <a:avLst/>
          </a:prstGeom>
        </p:spPr>
      </p:pic>
      <p:sp>
        <p:nvSpPr>
          <p:cNvPr id="41" name="conclusion-strip"/>
          <p:cNvSpPr/>
          <p:nvPr/>
        </p:nvSpPr>
        <p:spPr>
          <a:xfrm>
            <a:off x="2158999" y="6146800"/>
            <a:ext cx="7873999" cy="431800"/>
          </a:xfrm>
          <a:prstGeom prst="roundRect">
            <a:avLst/>
          </a:prstGeom>
          <a:solidFill>
            <a:srgbClr val="053A28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nclusion-text"/>
          <p:cNvSpPr txBox="1"/>
          <p:nvPr/>
        </p:nvSpPr>
        <p:spPr>
          <a:xfrm>
            <a:off x="2412999" y="6191250"/>
            <a:ext cx="73659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50" b="1">
                <a:solidFill>
                  <a:srgbClr val="F5DE96"/>
                </a:solidFill>
                <a:latin typeface="Microsoft YaHei"/>
              </a:rPr>
              <a:t>以三支部合力，汇75名青年之光，行中医药文化传播之路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